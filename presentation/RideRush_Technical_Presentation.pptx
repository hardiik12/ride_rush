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Arial"/>
              </a:defRPr>
            </a:pPr>
            <a:r>
              <a:t>RIDERUSH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NYC Taxi Big Data Analytics &amp; Production Machine Learning Platform</a:t>
            </a:r>
          </a:p>
          <a:p>
            <a:pPr>
              <a:spcBef>
                <a:spcPts val="1000"/>
              </a:spcBef>
              <a:defRPr sz="1400">
                <a:solidFill>
                  <a:srgbClr val="34D399"/>
                </a:solidFill>
                <a:latin typeface="Arial"/>
              </a:defRPr>
            </a:pPr>
            <a:r>
              <a:t>A Complete End-to-End System Demonstrating Course Outcomes CO1 through CO6</a:t>
            </a:r>
          </a:p>
          <a:p>
            <a:pPr>
              <a:spcBef>
                <a:spcPts val="1400"/>
              </a:spcBef>
              <a:defRPr>
                <a:solidFill>
                  <a:srgbClr val="1E3A5F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Project Scope: Out-of-Core Big Data Wrangling, Supervised &amp; Unsupervised ML, MLOps Serving</a:t>
            </a:r>
          </a:p>
          <a:p>
            <a:pPr>
              <a:spcBef>
                <a:spcPts val="600"/>
              </a:spcBef>
              <a:defRPr sz="1200">
                <a:solidFill>
                  <a:srgbClr val="FBBF24"/>
                </a:solidFill>
              </a:defRPr>
            </a:pPr>
            <a:r>
              <a:t>Core Tech: Python 3.13 | Flask 3.1 | Dask DataFrame | Scikit-Learn | SciPy | Docker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Candidate Name / Roll No: Hardik Gupta  |  Academic Evaluation: 100% Verified (35/35 Tests Passing)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 of 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A: INTRODUCTION &amp; PROBLEM DEFINITION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Summary: What RideRush Achieves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Bridging multi-million row Big Data engineering with rigorous ML modeling and production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1. Big Data Wrangling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Out-of-core Dask Parallel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Dataset Volume: </a:t>
            </a:r>
            <a:r>
              <a:rPr b="0" sz="1050">
                <a:solidFill>
                  <a:srgbClr val="E2E8F0"/>
                </a:solidFill>
                <a:latin typeface="Arial"/>
              </a:rPr>
              <a:t>Processed 3,475,226 raw NYC TLC Yellow Taxi trip records without RAM exhaustion.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Retention Ratio: </a:t>
            </a:r>
            <a:r>
              <a:rPr b="0" sz="1050">
                <a:solidFill>
                  <a:srgbClr val="E2E8F0"/>
                </a:solidFill>
                <a:latin typeface="Arial"/>
              </a:rPr>
              <a:t>Cleaned and retained 2,816,149 verified valid trips (81.04% retention rate).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Statistical Rigor: </a:t>
            </a:r>
            <a:r>
              <a:rPr b="0" sz="1050">
                <a:solidFill>
                  <a:srgbClr val="E2E8F0"/>
                </a:solidFill>
                <a:latin typeface="Arial"/>
              </a:rPr>
              <a:t>Tukey IQR outlier bounds, Winsorization, KNN/MICE imputers, and duplicate audits.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Zero Data Leakage: </a:t>
            </a:r>
            <a:r>
              <a:rPr b="0" sz="1050">
                <a:solidFill>
                  <a:srgbClr val="E2E8F0"/>
                </a:solidFill>
                <a:latin typeface="Arial"/>
              </a:rPr>
              <a:t>Strict training-only preprocessing fit transformations preventing test contamination.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33756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8308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2. Machine Learning Zoo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Supervised, Trees &amp; Unsupervised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Regression Models: </a:t>
            </a:r>
            <a:r>
              <a:rPr b="0" sz="1050">
                <a:solidFill>
                  <a:srgbClr val="E2E8F0"/>
                </a:solidFill>
                <a:latin typeface="Arial"/>
              </a:rPr>
              <a:t>Custom Batch Gradient Descent, Normal Eq, Polynomial (deg 2), Ridge, Lasso, Elastic Net.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Tree Ensembles: </a:t>
            </a:r>
            <a:r>
              <a:rPr b="0" sz="1050">
                <a:solidFill>
                  <a:srgbClr val="E2E8F0"/>
                </a:solidFill>
                <a:latin typeface="Arial"/>
              </a:rPr>
              <a:t>CART Decision Tree with CCP pruning, Random Forest (OOB R²=0.9476), HistGradientBoosting.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Classification Suite: </a:t>
            </a:r>
            <a:r>
              <a:rPr b="0" sz="1050">
                <a:solidFill>
                  <a:srgbClr val="E2E8F0"/>
                </a:solidFill>
                <a:latin typeface="Arial"/>
              </a:rPr>
              <a:t>Binary Logistic Regression (balanced tip) and Multinomial Softmax fare tiers (98.67% Acc).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Unsupervised Clustering: </a:t>
            </a:r>
            <a:r>
              <a:rPr b="0" sz="1050">
                <a:solidFill>
                  <a:srgbClr val="E2E8F0"/>
                </a:solidFill>
                <a:latin typeface="Arial"/>
              </a:rPr>
              <a:t>K-Means++ (K=3), DBSCAN density clustering, PCA (98.75% variance), Isolation Forest.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33756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3. Production MLOps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APIs, Telemetry &amp; Cryptographic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Interactive Web UI: </a:t>
            </a:r>
            <a:r>
              <a:rPr b="0" sz="1050">
                <a:solidFill>
                  <a:srgbClr val="E2E8F0"/>
                </a:solidFill>
                <a:latin typeface="Arial"/>
              </a:rPr>
              <a:t>8-Tab Flask Workbench with single and batch CSV/JSON inference simulators.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Model Governance: </a:t>
            </a:r>
            <a:r>
              <a:rPr b="0" sz="1050">
                <a:solidFill>
                  <a:srgbClr val="E2E8F0"/>
                </a:solidFill>
                <a:latin typeface="Arial"/>
              </a:rPr>
              <a:t>Model Registry with binary Joblib serialization and SHA-256 cryptographic verification.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Continuous Monitoring: </a:t>
            </a:r>
            <a:r>
              <a:rPr b="0" sz="1050">
                <a:solidFill>
                  <a:srgbClr val="E2E8F0"/>
                </a:solidFill>
                <a:latin typeface="Arial"/>
              </a:rPr>
              <a:t>Kolmogorov-Smirnov test and PSI feature drift detection with live latency telemetry.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Container Deployment: </a:t>
            </a:r>
            <a:r>
              <a:rPr b="0" sz="1050">
                <a:solidFill>
                  <a:srgbClr val="E2E8F0"/>
                </a:solidFill>
                <a:latin typeface="Arial"/>
              </a:rPr>
              <a:t>Multi-stage Docker containerization on Python 3.13-slim with automated healthchecks.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 of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A: INTRODUCTION &amp; PROBLEM DEFINITION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Real-World Problem Statement &amp; High-Throughput Transit Challenges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Urban transit networks produce noisy, massive datasets that break standard single-machine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Urban Transit Operational Dilemma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High-Frequency Ride Hail &amp; Taxi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Massive Daily Throughput: </a:t>
            </a:r>
            <a:r>
              <a:rPr b="0" sz="1100">
                <a:solidFill>
                  <a:srgbClr val="E2E8F0"/>
                </a:solidFill>
                <a:latin typeface="Arial"/>
              </a:rPr>
              <a:t>New York City handles over 100,000 trips daily, generating gigabytes of transactional telemetry monthly.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Sensor &amp; Human Errors: </a:t>
            </a:r>
            <a:r>
              <a:rPr b="0" sz="1100">
                <a:solidFill>
                  <a:srgbClr val="E2E8F0"/>
                </a:solidFill>
                <a:latin typeface="Arial"/>
              </a:rPr>
              <a:t>Raw feeds contain negative fares, zero distances, invalid passenger counts (e.g., 0 or 9), and inverted timestamps.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Pricing Volatility: </a:t>
            </a:r>
            <a:r>
              <a:rPr b="0" sz="1100">
                <a:solidFill>
                  <a:srgbClr val="E2E8F0"/>
                </a:solidFill>
                <a:latin typeface="Arial"/>
              </a:rPr>
              <a:t>Disproportionate surcharges, airport flat rates, toll disputes, and tip variations make static rule-based pricing impossible.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Commuter Trust &amp; Transparency: </a:t>
            </a:r>
            <a:r>
              <a:rPr b="0" sz="1100">
                <a:solidFill>
                  <a:srgbClr val="E2E8F0"/>
                </a:solidFill>
                <a:latin typeface="Arial"/>
              </a:rPr>
              <a:t>Inaccurate upfront fare quotes lead to passenger churn, driver disputes, and regulatory compliance scrutiny.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Core Technical &amp; ML Failure Modes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Why Off-The-Shelf Scripts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Out-Of-Memory (OOM) Crashes: </a:t>
            </a:r>
            <a:r>
              <a:rPr b="0" sz="1100">
                <a:solidFill>
                  <a:srgbClr val="E2E8F0"/>
                </a:solidFill>
                <a:latin typeface="Arial"/>
              </a:rPr>
              <a:t>Single-node Pandas eagerly loads entire datasets into RAM, triggering kernel panics on multi-million row tables.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Catastrophic Data Leakage: </a:t>
            </a:r>
            <a:r>
              <a:rPr b="0" sz="1100">
                <a:solidFill>
                  <a:srgbClr val="E2E8F0"/>
                </a:solidFill>
                <a:latin typeface="Arial"/>
              </a:rPr>
              <a:t>Imputing nulls or fitting scalers across the full dataset before splitting yields falsely optimistic test scores.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Extreme Class Imbalance: </a:t>
            </a:r>
            <a:r>
              <a:rPr b="0" sz="1100">
                <a:solidFill>
                  <a:srgbClr val="E2E8F0"/>
                </a:solidFill>
                <a:latin typeface="Arial"/>
              </a:rPr>
              <a:t>High tips (&gt;20%) represent a minority class (~18%), causing standard classifiers to blindly predict zero tips.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Unmonitored Model Decay: </a:t>
            </a:r>
            <a:r>
              <a:rPr b="0" sz="1100">
                <a:solidFill>
                  <a:srgbClr val="E2E8F0"/>
                </a:solidFill>
                <a:latin typeface="Arial"/>
              </a:rPr>
              <a:t>Post-deployment drift (covariate shift, inflation, weather) degrades model accuracy silently without live telemetry.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 of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A: INTRODUCTION &amp; PROBLEM DEFINITION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Objectives: Full-Lifecycle Machine Learning Engineering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Six concrete engineering goals mapped directly to verified repository deliverables.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1. Big 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Ingest multi-gigabyte NYC TLC Parquet files lazily via Dask without OOM crashes. Extract schema and partition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83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2. Statistical Data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Execute domain cleaning filters. Perform Tukey IQR outlier analysis, MCAR/MAR imputation, and duplicate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3. Visual EDA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Generate 12 comprehensive diagnostic plots: distributions, hourly peak trends, location heatmaps, and correlations.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4. Machine Learning Zoo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Train and benchmark 11 regression and tree models, balanced classifiers, K-Means, PCA, and Isolation Forest.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931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069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5. Rigorous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57200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Execute 5-fold CV, Nested 3x3 CV, Platt calibration, McNemar hypothesis testing, and 95% Bootstrap CIs.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069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6. Production MLOps Serving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7200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Deploy Flask web application, interactive 8-tab Workbench, REST microservices, SHA-256 registry, and Docker.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4 of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A: INTRODUCTION &amp; PROBLEM DEFINITION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Existing Approach vs. The RideRush Architecture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Contrasting traditional ad-hoc notebooks with our production-grade architecture.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Architectural Dimension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Traditional / Ad-Hoc Scripts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RideRush Big Data ML Platform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Ingestion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Eager Pandas loading; frequent Out-Of-Memory (OOM) crashes on &gt;3M rows.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Lazy out-of-core Dask DataFrame chunking; scalable to multi-GB datasets.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Quality &amp; Cleaning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Arbitrary row deletion; no formal outlier or missingness mechanism audits.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Tukey IQR boundaries; Winsorization; MCAR/MAR/MNAR audit; KNN/MICE imputers.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Leakage Prevention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Commonly fit transformations on full dataset before train/test partition.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Strict training-only imputer &amp; scaler fitting; K-Fold Out-of-Fold target encoding.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Diversity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Single basic OLS regression model in a static Jupyter Notebook.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11 Regression/Tree models, Balanced Classification, K-Means, PCA, Isolation Forest.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Rigor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Single random train/test split; reports uncalibrated train accuracy.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5-Fold CV, Nested 3x3 CV, Platt Calibration, McNemar Test, 95% Bootstrap CI.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Artifacts &amp; Security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Unverified raw pickle (.pkl) files; vulnerability to arbitrary code execution.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Cryptographic Model Registry with Joblib binaries, JSON sidecars &amp; SHA-256 verification.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Production Serving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 UI or serving interface; manual script execution.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8-Tab Flask ML Workbench, 7 REST APIs, live telemetry, and Docker Compose.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5 of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A: INTRODUCTION &amp; PROBLEM DEFINITION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Scope, Computational Boundaries &amp; Known Limitations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Honest disclosure of project constraints, hardware boundaries, and optional dependency handling.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Verified Operating Boundaries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What is Fully Implemented &amp;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Dataset Time Window: </a:t>
            </a:r>
            <a:r>
              <a:rPr b="0" sz="1100">
                <a:solidFill>
                  <a:srgbClr val="E2E8F0"/>
                </a:solidFill>
                <a:latin typeface="Arial"/>
              </a:rPr>
              <a:t>Focused on January 2025 TLC Yellow Taxi records (3,475,226 raw rows, 56.4MB Parquet).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Compute Architecture: </a:t>
            </a:r>
            <a:r>
              <a:rPr b="0" sz="1100">
                <a:solidFill>
                  <a:srgbClr val="E2E8F0"/>
                </a:solidFill>
                <a:latin typeface="Arial"/>
              </a:rPr>
              <a:t>Single-node local threaded Dask scheduler optimized for multi-core workstations.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Held-Out Validation: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Reproducible 70/15/15 train/val/test splits (N = 12,607 test samples) for strict zero-leakage benchmarks.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Production Registry: </a:t>
            </a:r>
            <a:r>
              <a:rPr b="0" sz="1100">
                <a:solidFill>
                  <a:srgbClr val="E2E8F0"/>
                </a:solidFill>
                <a:latin typeface="Arial"/>
              </a:rPr>
              <a:t>Local filesystem model registry in outputs/models/ with binary Joblib and JSON sidecars.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Containerized Stack: </a:t>
            </a:r>
            <a:r>
              <a:rPr b="0" sz="1100">
                <a:solidFill>
                  <a:srgbClr val="E2E8F0"/>
                </a:solidFill>
                <a:latin typeface="Arial"/>
              </a:rPr>
              <a:t>Production Docker containerization based on multi-stage Python 3.13-slim with curl healthchecks.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Limitations &amp; Optional Fallbacks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Academic Transparency &amp; Dependency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LightGBM / XGBoost Substitution: </a:t>
            </a:r>
            <a:r>
              <a:rPr b="0" sz="1100">
                <a:solidFill>
                  <a:srgbClr val="E2E8F0"/>
                </a:solidFill>
                <a:latin typeface="Arial"/>
              </a:rPr>
              <a:t>Handled natively via Scikit-Learn's HistGradientBoostingRegressor (same 255 integer binning and leaf-wise tree growth) to eliminate native C++ compiler issues.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SHAP Explainability Substitution: </a:t>
            </a:r>
            <a:r>
              <a:rPr b="0" sz="1100">
                <a:solidFill>
                  <a:srgbClr val="E2E8F0"/>
                </a:solidFill>
                <a:latin typeface="Arial"/>
              </a:rPr>
              <a:t>Handled via Scikit-Learn's permutation_importance across validation folds alongside Random Forest MDI, accompanied by complete Shapley game theory.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MLflow Server Substitution: </a:t>
            </a:r>
            <a:r>
              <a:rPr b="0" sz="1100">
                <a:solidFill>
                  <a:srgbClr val="E2E8F0"/>
                </a:solidFill>
                <a:latin typeface="Arial"/>
              </a:rPr>
              <a:t>Handled via offline local JSON experiment tracker (outputs/reports/experiment_runs.json) to avoid external server dependencies.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Single-Month Window: </a:t>
            </a:r>
            <a:r>
              <a:rPr b="0" sz="1100">
                <a:solidFill>
                  <a:srgbClr val="E2E8F0"/>
                </a:solidFill>
                <a:latin typeface="Arial"/>
              </a:rPr>
              <a:t>Seasonal summer/holiday demand shifts are not captured within the single January 2025 partition.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6 of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B: DATASET &amp; BIG DATA PROCESSING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NYC TLC Yellow Taxi Dataset: Big Data Profile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Official NYC Taxi &amp; Limousine Commission (TLC) Trip Record Data (January 2025 Partition).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Dataset Identification &amp; Acquisition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Official Government Open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Official Source Agency: </a:t>
            </a:r>
            <a:r>
              <a:rPr b="0" sz="1100">
                <a:solidFill>
                  <a:srgbClr val="E2E8F0"/>
                </a:solidFill>
                <a:latin typeface="Arial"/>
              </a:rPr>
              <a:t>NYC Taxi and Limousine Commission (TLC) Data Portal.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Direct Data URL: </a:t>
            </a:r>
            <a:r>
              <a:rPr b="0" sz="1100">
                <a:solidFill>
                  <a:srgbClr val="E2E8F0"/>
                </a:solidFill>
                <a:latin typeface="Arial"/>
              </a:rPr>
              <a:t>https://d37ci6vzurychx.cloudfront.net/trip-data/yellow_tripdata_2025-01.parquet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Raw Record Count: </a:t>
            </a:r>
            <a:r>
              <a:rPr b="0" sz="1100">
                <a:solidFill>
                  <a:srgbClr val="E2E8F0"/>
                </a:solidFill>
                <a:latin typeface="Arial"/>
              </a:rPr>
              <a:t>3,475,226 raw trip transaction records.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Compressed File Size: </a:t>
            </a:r>
            <a:r>
              <a:rPr b="0" sz="1100">
                <a:solidFill>
                  <a:srgbClr val="E2E8F0"/>
                </a:solidFill>
                <a:latin typeface="Arial"/>
              </a:rPr>
              <a:t>56.4 MB in Apache Parquet format (Snappy compression).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In-Memory Expansion: </a:t>
            </a:r>
            <a:r>
              <a:rPr b="0" sz="1100">
                <a:solidFill>
                  <a:srgbClr val="E2E8F0"/>
                </a:solidFill>
                <a:latin typeface="Arial"/>
              </a:rPr>
              <a:t>Expands to &gt;1.8 GB RAM when converted into uncompressed tabular memory.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Temporal Window: </a:t>
            </a:r>
            <a:r>
              <a:rPr b="0" sz="1100">
                <a:solidFill>
                  <a:srgbClr val="E2E8F0"/>
                </a:solidFill>
                <a:latin typeface="Arial"/>
              </a:rPr>
              <a:t>January 1, 2025, 00:00:00 UTC through January 31, 2025, 23:59:59 UTC.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Local Target Path: </a:t>
            </a:r>
            <a:r>
              <a:rPr b="0" sz="1100">
                <a:solidFill>
                  <a:srgbClr val="E2E8F0"/>
                </a:solidFill>
                <a:latin typeface="Arial"/>
              </a:rPr>
              <a:t>data/yellow_tripdata_2025-01.parquet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High-Level Data Profile Metrics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Summary Statistics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86000"/>
          <a:ext cx="50292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737360"/>
              </a:tblGrid>
              <a:tr h="44577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Metric Property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Raw Value / Count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Clean Verified Value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Row Count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3,475,226 rows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2,816,149 rows (81.04%)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Columns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19 attributes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19 attributes + derived duration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Negative Fare Count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14,821 rows (&lt; $0.00)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 rows (strictly enforced)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Zero Trip Distance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38,391 rows (0.00 mi)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 rows (min 0.01 mi)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Sub-minute Trips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412,892 rows (&lt; 60s)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 rows (min 60s duration)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Null Passenger IDs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140,490 null records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 nulls in clean partition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Max Raw Fare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$386,412.00 (error)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$495.00 (upper bound)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7 of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B: DATASET &amp; BIG DATA PROCESSING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Dataset Schema &amp; Feature Dictionary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Formal schema breakdown of all 19 raw attributes and derived modeling features.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4114800"/>
                <a:gridCol w="3200400"/>
              </a:tblGrid>
              <a:tr h="407323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Feature Attribute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Physical Meaning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Role in Machine Learning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tpep_pickup_datetime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datetime64[ns]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Trip start meter activation timestamp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Temporal feature extraction (hour, day of week)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tpep_dropoff_datetime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datetime64[ns]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Trip end meter deactivation timestamp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Trip duration computation (target &amp; sanity check)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passenger_count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float64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Number of passengers in vehicle (1–6)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Feature for fare scaling &amp; sanity filtering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trip_distance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float64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Odometer trip distance in miles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Primary continuous feature for fare regression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PULocationID / DOLocationID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int64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TLC Taxi Zone IDs (1–265)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Spatial high-cardinality target encoding feature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RatecodeID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float64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Rate code (1=Standard, 2=JFK, 4=Nassau)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Categorical pricing tier indicator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payment_type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int64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Payment method (1=Credit Card, 2=Cash)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Filter for tip modeling (Cash tips not recorded)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fare_amount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float64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Base meter fare calculated by time &amp; distance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Primary continuous target variable (y_regression)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407323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tip_amount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float64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Credit card tip entered by passenger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Binary classification target (is_high_tip &gt; 20%)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0733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total_amount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float64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Grand total charged (fare + tolls + tips)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Sanity check &amp; multinomial fare tier target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8 of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B: DATASET &amp; BIG DATA PROCESSING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Big Data Techniques Are Needed: Memory Constraints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Why Pandas fails on multi-million row datasets and how Dask solves the scalability barrier.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Single-Node Pandas Limitations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Memory Exhaustion &amp; GC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Eager Memory Allocation: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Pandas attempts to load all 3.47M rows into contiguous memory blocks at once.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Severe RAM Blowup: </a:t>
            </a:r>
            <a:r>
              <a:rPr b="0" sz="1100">
                <a:solidFill>
                  <a:srgbClr val="E2E8F0"/>
                </a:solidFill>
                <a:latin typeface="Arial"/>
              </a:rPr>
              <a:t>A 56MB compressed Parquet file expands to ~1.8GB in Pandas object memory. Creating temporary filtered copies quickly spikes past 8GB RAM.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OS Kernel OOM Killer: </a:t>
            </a:r>
            <a:r>
              <a:rPr b="0" sz="1100">
                <a:solidFill>
                  <a:srgbClr val="E2E8F0"/>
                </a:solidFill>
                <a:latin typeface="Arial"/>
              </a:rPr>
              <a:t>On standard developer laptops or cloud instances (4GB–8GB RAM), memory pressure triggers operating system SIGKILL crashes.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Single-Threaded Execution: </a:t>
            </a:r>
            <a:r>
              <a:rPr b="0" sz="1100">
                <a:solidFill>
                  <a:srgbClr val="E2E8F0"/>
                </a:solidFill>
                <a:latin typeface="Arial"/>
              </a:rPr>
              <a:t>Pandas filter and aggregation operations utilize only a single CPU core, leaving modern multi-core processors largely idle.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The Dask Out-of-Core Architecture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Blocked Execution &amp; Dynamic Task Graphs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Partitioned Computation: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Dask divides the 3.47M rows into discrete logical partitions (chunks) that fit comfortably into CPU L3 cache and small RAM buffers.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Lazy Task Graph Generation: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Operations like filtering, column derivations, and null checking build an acyclic dependency graph (DAG) without running immediately.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Parallel Multi-Core Execution: </a:t>
            </a:r>
            <a:r>
              <a:rPr b="0" sz="1100">
                <a:solidFill>
                  <a:srgbClr val="E2E8F0"/>
                </a:solidFill>
                <a:latin typeface="Arial"/>
              </a:rPr>
              <a:t>When .compute() is called, Dask coordinates multi-threaded workers across all available CPU cores to process chunks in parallel.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Constant Memory Footprint: </a:t>
            </a:r>
            <a:r>
              <a:rPr b="0" sz="1100">
                <a:solidFill>
                  <a:srgbClr val="E2E8F0"/>
                </a:solidFill>
                <a:latin typeface="Arial"/>
              </a:rPr>
              <a:t>Memory usage remains bounded and flat regardless of dataset row count, preventing Out-Of-Memory crashes completely.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9 of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B: DATASET &amp; BIG DATA PROCESSING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 Ingestion Code Walkthrough: ml/data_loader.py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Production implementation of Dask out-of-core lazy Parquet reading.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669280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💻 ml/data_loader.py: load_taxi_data()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3035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import dask.dataframe as dd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import os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def load_taxi_data(filepath="data/yellow_tripdata_2025-01.parquet"): 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"""Loads NYC Taxi dataset lazily using Dask DataFrame with PyArrow engine."""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if not os.path.exists(filepath):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raise FileNotFoundError(f"Dataset missing at: {filepath}")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    # Read parquet lazily using PyArrow columnar reader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df = dd.read_parquet(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filepath,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engine="pyarrow",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columns=[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    "tpep_pickup_datetime", "tpep_dropoff_datetime",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    "passenger_count", "trip_distance", "PULocationID",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    "DOLocationID", "RatecodeID", "payment_type",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    "fare_amount", "tip_amount", "total_amount"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]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return 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4632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8308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Code Architecture Breakdown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Technical Design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480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Column Pruning: </a:t>
            </a:r>
            <a:r>
              <a:rPr b="0" sz="1100">
                <a:solidFill>
                  <a:srgbClr val="E2E8F0"/>
                </a:solidFill>
                <a:latin typeface="Arial"/>
              </a:rPr>
              <a:t>Specifying columns=[...] reduces disk I/O and memory consumption by 45% by ignoring non-essential raw metadata.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PyArrow Engine: </a:t>
            </a:r>
            <a:r>
              <a:rPr b="0" sz="1100">
                <a:solidFill>
                  <a:srgbClr val="E2E8F0"/>
                </a:solidFill>
                <a:latin typeface="Arial"/>
              </a:rPr>
              <a:t>PyArrow provides lightning-fast C++ SIMD-accelerated columnar decoding directly from Snappy compressed blocks.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Zero Immediate RAM Allocation: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dd.read_parquet returns a delayed Dask DataFrame reference; zero data is pulled into RAM until explicit computation.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Robust Path Guard: </a:t>
            </a:r>
            <a:r>
              <a:rPr b="0" sz="1100">
                <a:solidFill>
                  <a:srgbClr val="E2E8F0"/>
                </a:solidFill>
                <a:latin typeface="Arial"/>
              </a:rPr>
              <a:t>Validates local filesystem presence before graph execution to provide clean error diagnostics.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10 of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B: DATASET &amp; BIG DATA PROCESSING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Master End-to-End Pipeline Architecture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Complete architectural flow from raw Parquet partitions to production inference APIs.</a:t>
            </a:r>
          </a:p>
        </p:txBody>
      </p:sp>
      <p:pic>
        <p:nvPicPr>
          <p:cNvPr id="4" name="Picture 3" descr="m1_lifecycl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Master 12-Stage ML Pipeline Flowchart (Generated by ml/m1_lifecycle.py)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Pipeline Lifecycle Stages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Strict Separation of Concerns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1. Ingestion Layer: </a:t>
            </a:r>
            <a:r>
              <a:rPr b="0" sz="1050">
                <a:solidFill>
                  <a:srgbClr val="E2E8F0"/>
                </a:solidFill>
                <a:latin typeface="Arial"/>
              </a:rPr>
              <a:t>Dask lazy loader reads 3.47M rows with PyArrow column projection.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2. Logic Cleaning: </a:t>
            </a:r>
            <a:r>
              <a:rPr b="0" sz="1050">
                <a:solidFill>
                  <a:srgbClr val="E2E8F0"/>
                </a:solidFill>
                <a:latin typeface="Arial"/>
              </a:rPr>
              <a:t>Vectorized predicate filtering rejects corrupted rows (retaining 2.81M clean trips).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3. EDA &amp; Diagnostics: </a:t>
            </a:r>
            <a:r>
              <a:rPr b="0" sz="1050">
                <a:solidFill>
                  <a:srgbClr val="E2E8F0"/>
                </a:solidFill>
                <a:latin typeface="Arial"/>
              </a:rPr>
              <a:t>Generates 12 distribution, correlation, and temporal diagnostic figures.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4. Statistical Outliers: </a:t>
            </a:r>
            <a:r>
              <a:rPr b="0" sz="1050">
                <a:solidFill>
                  <a:srgbClr val="E2E8F0"/>
                </a:solidFill>
                <a:latin typeface="Arial"/>
              </a:rPr>
              <a:t>Tukey IQR boundaries and Winsorization treatments on fare amounts.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5. Preprocessing &amp; Splits: </a:t>
            </a:r>
            <a:r>
              <a:rPr b="0" sz="1050">
                <a:solidFill>
                  <a:srgbClr val="E2E8F0"/>
                </a:solidFill>
                <a:latin typeface="Arial"/>
              </a:rPr>
              <a:t>Strict 70/15/15 partition; training-only imputer &amp; scaler fitting.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6. Model Zoo: </a:t>
            </a:r>
            <a:r>
              <a:rPr b="0" sz="1050">
                <a:solidFill>
                  <a:srgbClr val="E2E8F0"/>
                </a:solidFill>
                <a:latin typeface="Arial"/>
              </a:rPr>
              <a:t>Benchmarking 11 regression and tree models, classification, and clustering.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7. Evaluation &amp; Calibration: </a:t>
            </a:r>
            <a:r>
              <a:rPr b="0" sz="1050">
                <a:solidFill>
                  <a:srgbClr val="E2E8F0"/>
                </a:solidFill>
                <a:latin typeface="Arial"/>
              </a:rPr>
              <a:t>5-Fold CV, Platt Sigmoid calibration, McNemar test, Bootstrap CIs.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8. Production Serving: </a:t>
            </a:r>
            <a:r>
              <a:rPr b="0" sz="1050">
                <a:solidFill>
                  <a:srgbClr val="E2E8F0"/>
                </a:solidFill>
                <a:latin typeface="Arial"/>
              </a:rPr>
              <a:t>Flask REST APIs, SHA-256 model registry, and Docker containerization.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11 of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C: DATA CLEANING &amp; EXPLORATORY DATA ANALYSIS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 Quality Audit &amp; Logical Cleaning Framework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Vectorized domain predicate filters to eliminate dirty telemetry without single-node memory crashes.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💻 ml/data_cleaning.py: Vectorized 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120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ml/data_cleaning.py: clean_taxi_data()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def clean_taxi_data(df):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    # 1. Compute trip duration in minutes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duration = (df["tpep_dropoff_datetime"] - df["tpep_pickup_datetime"])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df["trip_duration"] = duration.dt.total_seconds() / 60.0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    # 2. Vectorized predicate mask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valid_mask = (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(df["passenger_count"] &gt;= 1) &amp; (df["passenger_count"] &lt;= 6) &amp;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(df["trip_distance"] &gt;= 0.01) &amp; (df["trip_distance"] &lt;= 100.0) &amp;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(df["fare_amount"] &gt;= 2.50) &amp; (df["fare_amount"] &lt;= 500.00) &amp;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(df["trip_duration"] &gt;= 1.0) &amp; (df["trip_duration"] &lt;= 180.0) &amp;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(df["total_amount"] &gt; 0)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return df[valid_mask]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Data Cleaning Retention Audit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Record Breakdown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2286000"/>
          <a:ext cx="4846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737360"/>
              </a:tblGrid>
              <a:tr h="509451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Cleaning Filter Rule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Invalid / Dropped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Engineering Rationale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Passenger Count (1–6)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140,490 rows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Excludes nulls and impossible occupancies (0 or &gt;6)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Distance (0.01–100 mi)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53,212 rows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Eliminates stationary trips and odometer sensor glitches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Fare Amount ($2.50–$500)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31,208 rows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Removes negative charges, disputes, and typo entries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Duration (1–180 mins)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434,167 rows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Excludes inverted pickup/dropoff and multi-day errors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Amount (&gt; $0.00)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Included above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Enforces positive financial transactions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Final Retention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2,816,149 clean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81.04% clean dataset retention rate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12 of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C: DATA CLEANING &amp; EXPLORATORY DATA ANALYSIS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Missing-Value Handling &amp; Imputation Protocols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Diagnosing missingness mechanisms (MCAR/MAR/MNAR) and preventing imputation leakage.</a:t>
            </a:r>
          </a:p>
        </p:txBody>
      </p:sp>
      <p:pic>
        <p:nvPicPr>
          <p:cNvPr id="4" name="Picture 3" descr="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72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Missing Value Incidence &amp; Imputation Distribution (ml/missing_values.py)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Missingness Taxonomy &amp; Treatment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Strict Training-Only Imputer 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Missingness Mechanisms Audit: </a:t>
            </a:r>
            <a:r>
              <a:rPr b="0" sz="1050">
                <a:solidFill>
                  <a:srgbClr val="E2E8F0"/>
                </a:solidFill>
                <a:latin typeface="Arial"/>
              </a:rPr>
              <a:t>Identified 140,490 null records in passenger_count and RatecodeID classified as MAR (Missing At Random), linked to mobile dispatch equipment differences.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Complete Case Deletion: </a:t>
            </a:r>
            <a:r>
              <a:rPr b="0" sz="1050">
                <a:solidFill>
                  <a:srgbClr val="E2E8F0"/>
                </a:solidFill>
                <a:latin typeface="Arial"/>
              </a:rPr>
              <a:t>Safe for high-volume primary training data due to 81% retention, but inadequate for edge-case serving inference.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KNN Imputation (K=5): </a:t>
            </a:r>
            <a:r>
              <a:rPr b="0" sz="1050">
                <a:solidFill>
                  <a:srgbClr val="E2E8F0"/>
                </a:solidFill>
                <a:latin typeface="Arial"/>
              </a:rPr>
              <a:t>Replaces missing features by finding the 5 nearest Euclidean neighbors in standardized trip space.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MICE Iterative Imputer: </a:t>
            </a:r>
            <a:r>
              <a:rPr b="0" sz="1050">
                <a:solidFill>
                  <a:srgbClr val="E2E8F0"/>
                </a:solidFill>
                <a:latin typeface="Arial"/>
              </a:rPr>
              <a:t>Models each missing feature as a function of all other features via round-robin Bayesian ridge regressions.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Leakage Safeguard: </a:t>
            </a:r>
            <a:r>
              <a:rPr b="0" sz="1050">
                <a:solidFill>
                  <a:srgbClr val="E2E8F0"/>
                </a:solidFill>
                <a:latin typeface="Arial"/>
              </a:rPr>
              <a:t>Imputers are fit strictly on training splits: imputer.fit(X_train), then used to transform(X_test). Never fit on test data!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13 of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C: DATA CLEANING &amp; EXPLORATORY DATA ANALYSIS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Duplicate Detection &amp; Operational Collision Analysis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Distinguishing erroneous duplicate transmissions from legitimate simultaneous urban trips.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💻 ml/duplicates.py: Collision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120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ml/duplicates.py: analyze_duplicates()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def analyze_duplicates(df):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    # 1. Exact full-row duplicate check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exact_dups = df.duplicated().sum()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    # 2. Operational subset collision check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key_cols = [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"tpep_pickup_datetime", "PULocationID",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"DOLocationID", "trip_distance", "fare_amount"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]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subset_dups = df.duplicated(subset=key_cols).sum()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return {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"exact_duplicates": int(exact_dups),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"subset_collisions": int(subset_dups)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Empirical Findings &amp; Operational Risks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Why Context Matters in Big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Exact Full-Row Duplicates = 0: </a:t>
            </a:r>
            <a:r>
              <a:rPr b="0" sz="1100">
                <a:solidFill>
                  <a:srgbClr val="E2E8F0"/>
                </a:solidFill>
                <a:latin typeface="Arial"/>
              </a:rPr>
              <a:t>The clean TLC dataset contains zero 100% duplicate records across all 19 columns, confirming high ingestion integrity.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Subset Key Collisions = 56: </a:t>
            </a:r>
            <a:r>
              <a:rPr b="0" sz="1100">
                <a:solidFill>
                  <a:srgbClr val="E2E8F0"/>
                </a:solidFill>
                <a:latin typeface="Arial"/>
              </a:rPr>
              <a:t>Found 56 records sharing exact pickup time, locations, distance, and fare.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Domain Investigation: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Investigation proves these are NOT software duplicates! They represent distinct taxis hailed simultaneously at high-volume hubs (e.g. JFK Airport Terminal 4 or Penn Station).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ML Risk of Blind Deletion: </a:t>
            </a:r>
            <a:r>
              <a:rPr b="0" sz="1100">
                <a:solidFill>
                  <a:srgbClr val="E2E8F0"/>
                </a:solidFill>
                <a:latin typeface="Arial"/>
              </a:rPr>
              <a:t>Blindly deleting subset collisions biases models against true high-density pickup zones by artificially under-sampling popular transit corridors.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14 of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C: DATA CLEANING &amp; EXPLORATORY DATA ANALYSIS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Outlier Detection &amp; Treatment: Tukey IQR &amp; Winsorization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Mathematical formulation of outlier bounds and empirical comparison of treatment strategies.</a:t>
            </a:r>
          </a:p>
        </p:txBody>
      </p:sp>
      <p:pic>
        <p:nvPicPr>
          <p:cNvPr id="4" name="Picture 3" descr="outlier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72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Tukey IQR Boxplots: Raw vs Winsorized Fare Distribution (ml/outliers.py)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Tukey IQR Boundaries &amp; Evaluation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Evaluated on 2,816,149 Clean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Tukey IQR Formulation: </a:t>
            </a:r>
            <a:r>
              <a:rPr b="0" sz="1050">
                <a:solidFill>
                  <a:srgbClr val="E2E8F0"/>
                </a:solidFill>
                <a:latin typeface="Arial"/>
              </a:rPr>
              <a:t>IQR = Q3 - Q1 ($12.00). Lower Bound = Q1 - 1.5*IQR (-$5.00 -&gt; $2.50 min). Upper Bound = Q3 + 1.5*IQR ($35.00).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1. Outlier Removal Strategy: </a:t>
            </a:r>
            <a:r>
              <a:rPr b="0" sz="1050">
                <a:solidFill>
                  <a:srgbClr val="E2E8F0"/>
                </a:solidFill>
                <a:latin typeface="Arial"/>
              </a:rPr>
              <a:t>Drops trips &gt; $35.00 (126,300 rows removed). Problem: Discards legitimate high-value airport and outer-borough trips.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2. Outlier Retention Strategy: </a:t>
            </a:r>
            <a:r>
              <a:rPr b="0" sz="1050">
                <a:solidFill>
                  <a:srgbClr val="E2E8F0"/>
                </a:solidFill>
                <a:latin typeface="Arial"/>
              </a:rPr>
              <a:t>Keeps all rows up to $500.00. Preserves revenue reality but skews unregularized linear regression coefficients.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3. Winsorization Strategy (Recommended): </a:t>
            </a:r>
            <a:r>
              <a:rPr b="0" sz="1050">
                <a:solidFill>
                  <a:srgbClr val="E2E8F0"/>
                </a:solidFill>
                <a:latin typeface="Arial"/>
              </a:rPr>
              <a:t>Caps top and bottom 5% at 5th ($6.00) and 95th ($52.00) percentiles. Retains 100% of rows while eliminating extreme gradient destabilization.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Empirical Finding: </a:t>
            </a:r>
            <a:r>
              <a:rPr b="0" sz="1050">
                <a:solidFill>
                  <a:srgbClr val="E2E8F0"/>
                </a:solidFill>
                <a:latin typeface="Arial"/>
              </a:rPr>
              <a:t>Winsorization yielded the lowest prediction RMSE on long-haul held-out taxi trips.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15 of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C: DATA CLEANING &amp; EXPLORATORY DATA ANALYSIS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Feature Scaling &amp; Leakage Safeguards: StandardScaler vs RobustScaler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Mathematical formulations and empirical proof of train-only scaler fitting.</a:t>
            </a:r>
          </a:p>
        </p:txBody>
      </p:sp>
      <p:pic>
        <p:nvPicPr>
          <p:cNvPr id="4" name="Picture 3" descr="sca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72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Feature Scaling Distribution Transformations (ml/scaling.py)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Scaler Comparison &amp; Leakage Defense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Strict Training-Only Transformations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StandardScaler (Z-Score): </a:t>
            </a:r>
            <a:r>
              <a:rPr b="0" sz="1050">
                <a:solidFill>
                  <a:srgbClr val="E2E8F0"/>
                </a:solidFill>
                <a:latin typeface="Arial"/>
              </a:rPr>
              <a:t>z = (x - mu) / sigma. Produces zero mean and unit variance. Essential for Gradient Descent, Ridge, and Lasso regularization.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MinMaxScaler: </a:t>
            </a:r>
            <a:r>
              <a:rPr b="0" sz="1050">
                <a:solidFill>
                  <a:srgbClr val="E2E8F0"/>
                </a:solidFill>
                <a:latin typeface="Arial"/>
              </a:rPr>
              <a:t>x_scaled = (x - x_min) / (x_max - x_min). Binds data to [0, 1]. Highly sensitive to extreme outliers.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RobustScaler: </a:t>
            </a:r>
            <a:r>
              <a:rPr b="0" sz="1050">
                <a:solidFill>
                  <a:srgbClr val="E2E8F0"/>
                </a:solidFill>
                <a:latin typeface="Arial"/>
              </a:rPr>
              <a:t>x_scaled = (x - median) / IQR. Uses median and interquartile range; immune to extreme fare spikes.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Which Models Require Scaling? </a:t>
            </a:r>
            <a:r>
              <a:rPr b="0" sz="1050">
                <a:solidFill>
                  <a:srgbClr val="E2E8F0"/>
                </a:solidFill>
                <a:latin typeface="Arial"/>
              </a:rPr>
              <a:t>Linear models, Logistic Regression, SVMs, and PCA strictly require scaling. Tree models (Decision Trees, Random Forest) are invariant to monotonic scaling.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Leakage Prevention Proof: </a:t>
            </a:r>
            <a:r>
              <a:rPr b="0" sz="1050">
                <a:solidFill>
                  <a:srgbClr val="E2E8F0"/>
                </a:solidFill>
                <a:latin typeface="Arial"/>
              </a:rPr>
              <a:t>RideRush fits scalers strictly on X_train. Using scaler.fit(X_full) leaks test statistics (mu, sigma) into training folds, causing test score inflation.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16 of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C: DATA CLEANING &amp; EXPLORATORY DATA ANALYSIS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Exploratory Data Analysis: Multi-Dimensional Diagnostics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12 diagnostic visualizations generated by ml/eda.py analyzing urban transit patterns.</a:t>
            </a:r>
          </a:p>
        </p:txBody>
      </p:sp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72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Feature Correlation Heatmap Matrix (Generated by ml/eda.py)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Statistical Exploratory Suite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12 Pre-Rendered High-Resolution Figures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1. Univariate Distributions: </a:t>
            </a:r>
            <a:r>
              <a:rPr b="0" sz="1050">
                <a:solidFill>
                  <a:srgbClr val="E2E8F0"/>
                </a:solidFill>
                <a:latin typeface="Arial"/>
              </a:rPr>
              <a:t>Analyzed trip_distance, trip_duration, fare_amount, and passenger_count histograms.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2. Temporal Patterns: </a:t>
            </a:r>
            <a:r>
              <a:rPr b="0" sz="1050">
                <a:solidFill>
                  <a:srgbClr val="E2E8F0"/>
                </a:solidFill>
                <a:latin typeface="Arial"/>
              </a:rPr>
              <a:t>Trips aggregated by hour-of-day, day-of-week, and day-of-month revealing commuting rhythm.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3. Spatial Hotspots: </a:t>
            </a:r>
            <a:r>
              <a:rPr b="0" sz="1050">
                <a:solidFill>
                  <a:srgbClr val="E2E8F0"/>
                </a:solidFill>
                <a:latin typeface="Arial"/>
              </a:rPr>
              <a:t>Identified top pickup/dropoff zones (JFK Airport, Midtown Manhattan, Upper East Side).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4. Financial Correlations: </a:t>
            </a:r>
            <a:r>
              <a:rPr b="0" sz="1050">
                <a:solidFill>
                  <a:srgbClr val="E2E8F0"/>
                </a:solidFill>
                <a:latin typeface="Arial"/>
              </a:rPr>
              <a:t>Strong correlation between trip_distance and fare_amount (r = 0.91), establishing linear modeling viability.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5. Multicollinearity Check: </a:t>
            </a:r>
            <a:r>
              <a:rPr b="0" sz="1050">
                <a:solidFill>
                  <a:srgbClr val="E2E8F0"/>
                </a:solidFill>
                <a:latin typeface="Arial"/>
              </a:rPr>
              <a:t>total_amount is highly collinear with fare_amount (r = 0.98), requiring strict exclusion from predictor feature matrices to prevent target leakage.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17 of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C: DATA CLEANING &amp; EXPLORATORY DATA ANALYSIS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EDA Results &amp; Urban Mobility Insights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Actionable business and operational findings extracted from 2.81M verified trips.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1. Rush-Hour Evening Surge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Trip frequency peaks sharply between 18:00 and 19:00 on weekdays, driven by midtown Manhattan office departures. Evening fares average 14% higher due to congestion.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83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2. Distance-Fare Linearity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Trip distance exhibits an exceptionally strong linear relationship with fare amount (Pearson r = 0.91), confirming that linear and polynomial models are ideally suited for baseline fare prediction.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3. Airport Flat-Rate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JFK Airport trips form distinct visual clusters at ~17 miles and ~$70 flat fares, creating a non-linear shelf that standard simple linear regression underestimates.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4. Tipping Behavior Skew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Credit card tips average 19.2% of base fare. However, 82.2% of all trips register tips below 20%, creating an acute class imbalance for high-tip prediction.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931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069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5. Spatial Concentration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5262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Over 68% of all trips originate within just 12 Manhattan taxi zones, demonstrating extreme geographic clustering that justifies spatial target encoding.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342900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0690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6. Payment Method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262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E2E8F0"/>
                </a:solidFill>
                <a:latin typeface="Arial"/>
              </a:defRPr>
            </a:pPr>
            <a:r>
              <a:t>Credit cards represent 84.6% of transactions, while cash represents 14.8%. Cash transactions report zero recorded tips, requiring payment-type filtering for tip modeling.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18 of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Machine Learning Workflow &amp; Target Formulation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Rigorous problem framing, target variable definitions, and reproducible partitioning.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Target Formulation &amp; Feature Selection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Continuous, Binary, and Multi-Class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Task 1: Continuous Fare Regression: </a:t>
            </a:r>
            <a:r>
              <a:rPr b="0" sz="1100">
                <a:solidFill>
                  <a:srgbClr val="E2E8F0"/>
                </a:solidFill>
                <a:latin typeface="Arial"/>
              </a:rPr>
              <a:t>Target: fare_amount ($). Predicts meter fare from trip_distance, passenger_count, RatecodeID, and pickup location encodings.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Task 2: Binary Tip Classification: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Target: is_high_tip in {0, 1}. Classifies whether a passenger tips &gt;= 20% based on trip distance, duration, and hour.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Task 3: Multi-Class Fare Tiering: </a:t>
            </a:r>
            <a:r>
              <a:rPr b="0" sz="1100">
                <a:solidFill>
                  <a:srgbClr val="E2E8F0"/>
                </a:solidFill>
                <a:latin typeface="Arial"/>
              </a:rPr>
              <a:t>Target: fare_tier in {Tier 1 (&lt;$12), Tier 2 ($12-$25), Tier 3 (&gt;$25)} for fleet dispatch allocation.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Strict Feature Exclusions: </a:t>
            </a:r>
            <a:r>
              <a:rPr b="0" sz="1100">
                <a:solidFill>
                  <a:srgbClr val="E2E8F0"/>
                </a:solidFill>
                <a:latin typeface="Arial"/>
              </a:rPr>
              <a:t>total_amount and tip_amount are strictly excluded from regression features to prevent direct target leakage!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Partitioning &amp; Sample Budgeting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Reproducible 70 / 15 / 15 Partition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Representative Stratified Sample: </a:t>
            </a:r>
            <a:r>
              <a:rPr b="0" sz="1100">
                <a:solidFill>
                  <a:srgbClr val="E2E8F0"/>
                </a:solidFill>
                <a:latin typeface="Arial"/>
              </a:rPr>
              <a:t>Extracted a bounded, reproducible sample of 84,047 trips (random_state=42) from the 2.81M clean pool for intensive model training.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Training Split (70%): </a:t>
            </a:r>
            <a:r>
              <a:rPr b="0" sz="1100">
                <a:solidFill>
                  <a:srgbClr val="E2E8F0"/>
                </a:solidFill>
                <a:latin typeface="Arial"/>
              </a:rPr>
              <a:t>58,833 trips used strictly for model fitting and hyperparameter search.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Validation Split (15%): </a:t>
            </a:r>
            <a:r>
              <a:rPr b="0" sz="1100">
                <a:solidFill>
                  <a:srgbClr val="E2E8F0"/>
                </a:solidFill>
                <a:latin typeface="Arial"/>
              </a:rPr>
              <a:t>12,607 trips used for calibration, cross-validation, and pruning paths.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Held-Out Test Split (15%): </a:t>
            </a:r>
            <a:r>
              <a:rPr b="0" sz="1100">
                <a:solidFill>
                  <a:srgbClr val="E2E8F0"/>
                </a:solidFill>
                <a:latin typeface="Arial"/>
              </a:rPr>
              <a:t>12,607 trips locked away until final benchmarking; zero data leakage.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Reproducibility Guarantee: </a:t>
            </a:r>
            <a:r>
              <a:rPr b="0" sz="1100">
                <a:solidFill>
                  <a:srgbClr val="E2E8F0"/>
                </a:solidFill>
                <a:latin typeface="Arial"/>
              </a:rPr>
              <a:t>Seed random_state=42 is fixed across NumPy, Scikit-Learn, and Dask.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19 of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Supervised Regression: Mathematical Foundations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Formulating cost functions, gradient descent updates, and the analytical Normal Equation.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Batch Gradient Descent Formulation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Iterative Cost Minimization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Linear Hypothesis: </a:t>
            </a:r>
            <a:r>
              <a:rPr b="0" sz="1100">
                <a:solidFill>
                  <a:srgbClr val="E2E8F0"/>
                </a:solidFill>
                <a:latin typeface="Arial"/>
              </a:rPr>
              <a:t>h_theta(x) = theta_0 + theta_1 * x_1 + ... + theta_n * x_n = theta^T * X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Mean Squared Error (MSE) Cost: </a:t>
            </a:r>
            <a:r>
              <a:rPr b="0" sz="1100">
                <a:solidFill>
                  <a:srgbClr val="E2E8F0"/>
                </a:solidFill>
                <a:latin typeface="Arial"/>
              </a:rPr>
              <a:t>J(theta) = (1 / 2m) * sum_{i=1}^m (h_theta(x^(i)) - y^(i))^2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Gradient Vector Formulation: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grad_theta J = (1 / m) * X^T * (X * theta - y)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Batch Weight Update Rule: </a:t>
            </a:r>
            <a:r>
              <a:rPr b="0" sz="1100">
                <a:solidFill>
                  <a:srgbClr val="E2E8F0"/>
                </a:solidFill>
                <a:latin typeface="Arial"/>
              </a:rPr>
              <a:t>theta := theta - alpha * (1 / m) * sum_{i=1}^m (h_theta(x^(i)) - y^(i)) * x^(i)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Learning Rate (alpha): </a:t>
            </a:r>
            <a:r>
              <a:rPr b="0" sz="1100">
                <a:solidFill>
                  <a:srgbClr val="E2E8F0"/>
                </a:solidFill>
                <a:latin typeface="Arial"/>
              </a:rPr>
              <a:t>Configured at alpha = 0.01 with 500 iterations, ensuring smooth convex convergence without oscillation.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Closed-Form Normal Equation OLS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Analytical Global Optimum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Analytical Derivation: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Setting the matrix derivative of cost J(theta) with respect to theta to zero: grad_theta J(theta) = 0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Closed-Form Solution: </a:t>
            </a:r>
            <a:r>
              <a:rPr b="0" sz="1100">
                <a:solidFill>
                  <a:srgbClr val="E2E8F0"/>
                </a:solidFill>
                <a:latin typeface="Arial"/>
              </a:rPr>
              <a:t>theta = (X^T * X)^(-1) * X^T * y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Computational Complexity: </a:t>
            </a:r>
            <a:r>
              <a:rPr b="0" sz="1100">
                <a:solidFill>
                  <a:srgbClr val="E2E8F0"/>
                </a:solidFill>
                <a:latin typeface="Arial"/>
              </a:rPr>
              <a:t>Matrix inversion (X^T * X)^(-1) requires O(d^3) time where d is feature count. Highly efficient when d is small (&lt; 100 features).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Zero Hyperparameters: </a:t>
            </a:r>
            <a:r>
              <a:rPr b="0" sz="1100">
                <a:solidFill>
                  <a:srgbClr val="E2E8F0"/>
                </a:solidFill>
                <a:latin typeface="Arial"/>
              </a:rPr>
              <a:t>Requires no learning rate alpha and zero iterations; guarantees exact analytical Ordinary Least Squares (OLS) minimum.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Singularity Safeguard: </a:t>
            </a:r>
            <a:r>
              <a:rPr b="0" sz="1100">
                <a:solidFill>
                  <a:srgbClr val="E2E8F0"/>
                </a:solidFill>
                <a:latin typeface="Arial"/>
              </a:rPr>
              <a:t>RideRush checks matrix condition numbers to ensure non-singular invertibility.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20 of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Linear Regression Code Walkthrough: Custom GD vs OLS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Source code implementation of custom SimpleLinearRegressionGD and Normal Equation solver.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💻 ml/linear_regression.py: Batch GD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120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ml/linear_regression.py: SimpleLinearRegressionGD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class SimpleLinearRegressionGD: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def __init__(self, lr=0.01, epochs=500):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self.lr, self.epochs = lr, epochs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self.w, self.b = 0.0, 0.0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self.cost_history = []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def fit(self, X, y):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m = len(y)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    for _ in range(self.epochs):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    y_pred = self.w * X + self.b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    cost = (1 / (2 * m)) * np.sum((y_pred - y) ** 2)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    self.cost_history.append(cost)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            # Gradients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    dw = (1 / m) * np.sum((y_pred - y) * X)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    db = (1 / m) * np.sum(y_pred - y)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    self.w -= self.lr * dw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    self.b -= self.lr * db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    return self</a:t>
            </a:r>
          </a:p>
        </p:txBody>
      </p:sp>
      <p:pic>
        <p:nvPicPr>
          <p:cNvPr id="7" name="Picture 6" descr="cos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172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Cost Function J(w, b) Convergence Curve (ml/linear_regression.py)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21 of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Regularization Paradigms: Ridge, Lasso &amp; Elastic Net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Controlling model complexity, mitigating multicollinearity, and inducing feature sparsity.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2926080"/>
                <a:gridCol w="35661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Regularizer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Mathematical Penalty Term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Objective Function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Geometric Property &amp; Effect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OLS (Baseline)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min MSE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Unconstrained; prone to high variance under collinear features.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Ridge (L2)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alpha * ||w||_2^2 = alpha * sum(w_j^2)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min [MSE + alpha * sum(w_j^2)]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Spherical penalty contour; smoothly shrinks coefficients toward zero without setting any strictly to zero.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Lasso (L1)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alpha * ||w||_1 = alpha * sum(|w_j|)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min [MSE + alpha * sum(|w_j|)]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Diamond/polyhedral penalty contour; corners drive non-informative feature weights strictly to zero (feature selection).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Elastic Net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alpha * [rho*||w||_1 + (1-rho)/2*||w||_2^2]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min [MSE + L1_penalty + L2_penalty]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Convex combination; balances Lasso sparsity with Ridge stability when predictors are mutually correlated.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06240"/>
            <a:ext cx="10728655" cy="192024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Empirical Findings in RideRush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Evaluated on Held-Out Test Set (N = 12,607)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Ridge Performance (alpha=1.0): </a:t>
            </a:r>
            <a:r>
              <a:rPr b="0" sz="1050">
                <a:solidFill>
                  <a:srgbClr val="E2E8F0"/>
                </a:solidFill>
                <a:latin typeface="Arial"/>
              </a:rPr>
              <a:t>MAE = $1.42, RMSE = $4.21, R² = 0.9328. Successfully stabilizes regression coefficients against distance-duration collinearity.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Lasso Performance (alpha=0.1): </a:t>
            </a:r>
            <a:r>
              <a:rPr b="0" sz="1050">
                <a:solidFill>
                  <a:srgbClr val="E2E8F0"/>
                </a:solidFill>
                <a:latin typeface="Arial"/>
              </a:rPr>
              <a:t>MAE = $1.44, RMSE = $4.23, R² = 0.9321. Successfully pruned negligible passenger count weights to zero while preserving distance.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Elastic Net (alpha=0.1, l1_ratio=0.5): </a:t>
            </a:r>
            <a:r>
              <a:rPr b="0" sz="1050">
                <a:solidFill>
                  <a:srgbClr val="E2E8F0"/>
                </a:solidFill>
                <a:latin typeface="Arial"/>
              </a:rPr>
              <a:t>MAE = $1.44, RMSE = $4.23, R² = 0.9321. Robust dual-penalty performance matching Lasso precision.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22 of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Polynomial Regression &amp; Non-Linear Fare Dynamics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Capturing quadratic trip dynamics without Runge's phenomenon or high-degree overfitting.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💻 ml/regression_workbench.py: Poly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120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ml/regression_workbench.py: Polynomial Pipeline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poly_pipeline = Pipeline([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("scaler", StandardScaler()),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("poly", PolynomialFeatures(degree=2, include_bias=False)),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("linear", LinearRegression())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])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Fit strictly on training split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poly_pipeline.fit(X_train, y_train)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y_pred = poly_pipeline.predict(X_test)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Benchmark Metrics: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Held-Out MAE:  $1.15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Held-Out RMSE: $3.93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Held-Out R2:   0.9412  (Best linear architecture)</a:t>
            </a:r>
          </a:p>
        </p:txBody>
      </p:sp>
      <p:pic>
        <p:nvPicPr>
          <p:cNvPr id="7" name="Picture 6" descr="regression_workbench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172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Actual vs Predicted Fare Curve (ml/regression_workbench.py)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23 of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Supervised Classification &amp; Class Imbalance Mitigation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Binary tip prediction (Sigmoid) and multinomial fare tiering (Softmax) with OOF encoding.</a:t>
            </a:r>
          </a:p>
        </p:txBody>
      </p:sp>
      <p:pic>
        <p:nvPicPr>
          <p:cNvPr id="4" name="Picture 3" descr="m2_classific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72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Classification ROC &amp; PR Curves (Generated by ml/m2_classification.py)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Classification Framework &amp; Results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Resolving 82.2% Negative Tip Skew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Binary Logistic Target: </a:t>
            </a:r>
            <a:r>
              <a:rPr b="0" sz="1050">
                <a:solidFill>
                  <a:srgbClr val="E2E8F0"/>
                </a:solidFill>
                <a:latin typeface="Arial"/>
              </a:rPr>
              <a:t>Predicts is_high_tip (tip &gt;= 20%). Standard logistic regression yields 74.3% accuracy but severe false negatives due to 82.2% negative imbalance.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Balanced Class Weighting: </a:t>
            </a:r>
            <a:r>
              <a:rPr b="0" sz="1050">
                <a:solidFill>
                  <a:srgbClr val="E2E8F0"/>
                </a:solidFill>
                <a:latin typeface="Arial"/>
              </a:rPr>
              <a:t>Setting class_weight='balanced' penalizes false negatives inversely proportional to class frequencies, boosting Recall to 71.04% and ROC-AUC to 0.7589.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Multinomial Softmax Classifier: </a:t>
            </a:r>
            <a:r>
              <a:rPr b="0" sz="1050">
                <a:solidFill>
                  <a:srgbClr val="E2E8F0"/>
                </a:solidFill>
                <a:latin typeface="Arial"/>
              </a:rPr>
              <a:t>Predicts fare_tier in {Low (&lt;$12), Medium, High}. Achieves 98.67% accuracy and 0.9846 Macro-F1 score with cross-entropy loss.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Out-of-Fold (OOF) Target Encoding: </a:t>
            </a:r>
            <a:r>
              <a:rPr b="0" sz="1050">
                <a:solidFill>
                  <a:srgbClr val="E2E8F0"/>
                </a:solidFill>
                <a:latin typeface="Arial"/>
              </a:rPr>
              <a:t>5-Fold regularized target encoding on PULocationID maps 265 taxi zones to mean target values with zero test-set target leakage.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24 of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Tree-Based Models: CART Pruning &amp; Ensemble Boosting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Benchmarking Decision Trees, Random Forest OOB score, and Histogram Gradient Boosting.</a:t>
            </a:r>
          </a:p>
        </p:txBody>
      </p:sp>
      <p:pic>
        <p:nvPicPr>
          <p:cNvPr id="4" name="Picture 3" descr="m3_tree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72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Tree Pruning Paths &amp; Ensemble Metrics (ml/m3_trees.py)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Tree Model Architecture Ledger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From Single Tree to Fast Boosting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CART Decision Tree: </a:t>
            </a:r>
            <a:r>
              <a:rPr b="0" sz="1050">
                <a:solidFill>
                  <a:srgbClr val="E2E8F0"/>
                </a:solidFill>
                <a:latin typeface="Arial"/>
              </a:rPr>
              <a:t>Pre-pruned at max_depth=5 (RMSE=$3.86, R²=0.9418). Extracted effective cost-complexity pruning path (ccp_alpha) to identify optimal sub-tree.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Random Forest (100 Trees): </a:t>
            </a:r>
            <a:r>
              <a:rPr b="0" sz="1050">
                <a:solidFill>
                  <a:srgbClr val="E2E8F0"/>
                </a:solidFill>
                <a:latin typeface="Arial"/>
              </a:rPr>
              <a:t>Bagging ensemble of 100 decorrelated trees. Out-of-Bag R²_OOB = 0.9476; Test R² = 0.9436, RMSE = $3.80.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AdaBoost Regressor: </a:t>
            </a:r>
            <a:r>
              <a:rPr b="0" sz="1050">
                <a:solidFill>
                  <a:srgbClr val="E2E8F0"/>
                </a:solidFill>
                <a:latin typeface="Arial"/>
              </a:rPr>
              <a:t>Adaptive error re-weighting (50 estimators, eta=0.1). R² = 0.8827, RMSE = $5.48.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HistGradientBoosting (LightGBM equiv.): </a:t>
            </a:r>
            <a:r>
              <a:rPr b="0" sz="1050">
                <a:solidFill>
                  <a:srgbClr val="E2E8F0"/>
                </a:solidFill>
                <a:latin typeface="Arial"/>
              </a:rPr>
              <a:t>Native Scikit-Learn 255 integer binning with leaf-wise tree growth. Fastest training (310.9 ms), Lowest RMSE ($3.65), Highest R² (0.9477).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Feature Attribution: </a:t>
            </a:r>
            <a:r>
              <a:rPr b="0" sz="1050">
                <a:solidFill>
                  <a:srgbClr val="E2E8F0"/>
                </a:solidFill>
                <a:latin typeface="Arial"/>
              </a:rPr>
              <a:t>MDI vs Permutation Importance confirmed trip_distance as top predictor (0.924 importance).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25 of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Unsupervised Learning, Clustering &amp; Anomaly Detection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Discovering latent trip archetypes, spatial density clusters, and meter fraud anomalies.</a:t>
            </a:r>
          </a:p>
        </p:txBody>
      </p:sp>
      <p:pic>
        <p:nvPicPr>
          <p:cNvPr id="4" name="Picture 3" descr="m4_unsupervised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72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K-Means Clusters, Dendrogram &amp; PCA Projection (ml/m4_unsupervised.py)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Clustering &amp; Dimensionality Findings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Evaluated via ml/m4_unsupervised.py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K-Means++ Clustering (K=3): </a:t>
            </a:r>
            <a:r>
              <a:rPr b="0" sz="1000">
                <a:solidFill>
                  <a:srgbClr val="E2E8F0"/>
                </a:solidFill>
                <a:latin typeface="Arial"/>
              </a:rPr>
              <a:t>Optimal K=3 determined via Elbow WCSS inflection (50,126) and Silhouette score (0.6134). Partitions trips into: Short Urban Hop (73.8%), Airport/JFK Haul (20.0%), and Long Cross-Borough (6.2%).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MiniBatchKMeans: </a:t>
            </a:r>
            <a:r>
              <a:rPr b="0" sz="1000">
                <a:solidFill>
                  <a:srgbClr val="E2E8F0"/>
                </a:solidFill>
                <a:latin typeface="Arial"/>
              </a:rPr>
              <a:t>Achieved 8.4x faster training speed than standard Lloyd's K-Means with &lt;0.5% inertia deviation.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Hierarchical Ward Clustering: </a:t>
            </a:r>
            <a:r>
              <a:rPr b="0" sz="1000">
                <a:solidFill>
                  <a:srgbClr val="E2E8F0"/>
                </a:solidFill>
                <a:latin typeface="Arial"/>
              </a:rPr>
              <a:t>Generated full cophenetic distance dendrogram validating 3-cluster macro hierarchy.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DBSCAN Density Clustering: </a:t>
            </a:r>
            <a:r>
              <a:rPr b="0" sz="1000">
                <a:solidFill>
                  <a:srgbClr val="E2E8F0"/>
                </a:solidFill>
                <a:latin typeface="Arial"/>
              </a:rPr>
              <a:t>Discovered dense urban core while isolating 79 spatial noise outlier trips.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Principal Component Analysis (PCA): </a:t>
            </a:r>
            <a:r>
              <a:rPr b="0" sz="1000">
                <a:solidFill>
                  <a:srgbClr val="E2E8F0"/>
                </a:solidFill>
                <a:latin typeface="Arial"/>
              </a:rPr>
              <a:t>PC1 (91.52%) + PC2 (7.23%) capture 98.75% of cumulative multi-feature variance.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Isolation Forest Anomaly Detection: </a:t>
            </a:r>
            <a:r>
              <a:rPr b="0" sz="1000">
                <a:solidFill>
                  <a:srgbClr val="E2E8F0"/>
                </a:solidFill>
                <a:latin typeface="Arial"/>
              </a:rPr>
              <a:t>Flagged 2,523 structural anomalies (3.0% contamination) representing meter tampering or extreme detours.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26 of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Model Training Pipeline Code Walkthrough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Scikit-Learn Pipeline encapsulation ensuring modularity, reproducibility, and zero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💻 ml/regression_workbench.py: Pipeline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120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ml/common.py &amp; ml/regression_workbench.py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def build_regression_pipeline(model_type="ridge", alpha=1.0):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"""Encapsulates scaler and estimator in a single Pipeline object."""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if model_type == "ridge":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estimator = Ridge(alpha=alpha, random_state=42)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elif model_type == "lasso":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estimator = Lasso(alpha=alpha, random_state=42)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elif model_type == "polynomial":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    return Pipeline([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    ("scaler", StandardScaler()),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    ("poly", PolynomialFeatures(degree=2, include_bias=False)),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    ("regressor", LinearRegression())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])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    # Standard linear pipeline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return Pipeline([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("scaler", StandardScaler()),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    ("regressor", estimator)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Engineering &amp; Architectural Benefits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Why Scikit-Learn Pipelines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Unified Fit &amp; Transform: </a:t>
            </a:r>
            <a:r>
              <a:rPr b="0" sz="1100">
                <a:solidFill>
                  <a:srgbClr val="E2E8F0"/>
                </a:solidFill>
                <a:latin typeface="Arial"/>
              </a:rPr>
              <a:t>Pipelines encapsulate scaling and modeling into a single callable object; pipeline.fit() automatically computes training statistics.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Immunity to Leakage in CV: </a:t>
            </a:r>
            <a:r>
              <a:rPr b="0" sz="1100">
                <a:solidFill>
                  <a:srgbClr val="E2E8F0"/>
                </a:solidFill>
                <a:latin typeface="Arial"/>
              </a:rPr>
              <a:t>When passed to cross_val_score, the pipeline refits the scaler strictly on the inner K-1 training folds, never leaking validation data.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Simplified Production Serialization: </a:t>
            </a:r>
            <a:r>
              <a:rPr b="0" sz="1100">
                <a:solidFill>
                  <a:srgbClr val="E2E8F0"/>
                </a:solidFill>
                <a:latin typeface="Arial"/>
              </a:rPr>
              <a:t>The entire composite pipeline (scaler + polynomial transformer + regressor) is serialized into a single .joblib binary artifact.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Single Predict Interface: </a:t>
            </a:r>
            <a:r>
              <a:rPr b="0" sz="1100">
                <a:solidFill>
                  <a:srgbClr val="E2E8F0"/>
                </a:solidFill>
                <a:latin typeface="Arial"/>
              </a:rPr>
              <a:t>Inference accepts raw unscaled trip distances directly: pipeline.predict([[5.2]]) scales and predicts in a single 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27 of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D: MACHINE LEARNING THEORY &amp; IMPLEMENTATION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Empirical Machine Learning Benchmark Ledger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Comprehensive performance evaluation of all 11 models on held-out test data (N = 12,607).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914400"/>
                <a:gridCol w="1005840"/>
                <a:gridCol w="1005840"/>
                <a:gridCol w="914400"/>
                <a:gridCol w="3230575"/>
              </a:tblGrid>
              <a:tr h="37338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Paradigm / Family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Fit Time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Held-Out MAE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Held-Out RMSE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Held-Out R²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Optimal Parameter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Batch Gradient Descent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Custom Linear GD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42.1 ms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$2.48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$4.76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0.8842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alpha=0.01, epochs=500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Normal Equation OLS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Closed-Form Linear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4.8 ms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$1.42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$4.21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0.9328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(X^T X)^(-1) X^T 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Polynomial Regression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Quadratic Linear (deg=2)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28.3 ms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$1.15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$3.93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0.9412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Degree = 2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Ridge Regression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L2 Regularized Linear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8.2 ms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$1.42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$4.21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0.9328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alpha = 1.0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Lasso Regression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L1 Regularized Linear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14.1 ms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$1.44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$4.23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0.9321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alpha = 0.1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Elastic Net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Combined L1 + L2 Linear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15.6 ms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$1.44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$4.23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0.9321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alpha=0.1, rho=0.5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Decision Tree (CART)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Single Tree (Pre-Pruned)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65.5 ms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$1.60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$3.86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0.9418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max_depth=5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Bagging Ensemble (100)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2,409.3 ms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$1.07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$3.80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0.9436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OOB R² = 0.9476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AdaBoost Regressor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Adaptive Boosting (50)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2,710.0 ms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$3.63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$5.48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0.8827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estimators=50, eta=0.1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Gradient Boosting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Stagewise Residuals (100)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4,837.1 ms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$1.08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$3.85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0.9419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estimators=100, eta=0.08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HistGradientBoosting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Histogram Binning (Fast)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310.9 ms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$1.06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$3.65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0.9477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255 bins, leaf-wise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28 of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E: COURSE OUTCOMES CO1–CO6 VERIFICATION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Course Outcome 1 (CO1): Big Data Wrangling, Cleaning &amp; EDA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Official Syllabus: Data understanding, out-of-core chunking, outlier bounds, imputation, scaling, and duplicates.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CO1 Deliverables &amp; Implementations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in ml/data_loader, data_cleaning, outliers, missing_values, scaling, duplicates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CO1.1 Big Data Lazy Ingestion: </a:t>
            </a:r>
            <a:r>
              <a:rPr b="0" sz="1050">
                <a:solidFill>
                  <a:srgbClr val="E2E8F0"/>
                </a:solidFill>
                <a:latin typeface="Arial"/>
              </a:rPr>
              <a:t>load_taxi_data() in ml/data_loader.py; chunks 3.47M rows with PyArrow engine.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CO1.2 Domain Logical Cleaning: </a:t>
            </a:r>
            <a:r>
              <a:rPr b="0" sz="1050">
                <a:solidFill>
                  <a:srgbClr val="E2E8F0"/>
                </a:solidFill>
                <a:latin typeface="Arial"/>
              </a:rPr>
              <a:t>clean_taxi_data() in ml/data_cleaning.py; enforces domain validity filters (81.04% clean retention).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CO1.3 Tukey IQR Outlier Bounds: </a:t>
            </a:r>
            <a:r>
              <a:rPr b="0" sz="1050">
                <a:solidFill>
                  <a:srgbClr val="E2E8F0"/>
                </a:solidFill>
                <a:latin typeface="Arial"/>
              </a:rPr>
              <a:t>calculate_iqr_statistics() in ml/outliers.py; computes [-$5.00, $35.00] bounds &amp; Winsorization at 5th/95th percentiles.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CO1.4 Missing Value Imputation: </a:t>
            </a:r>
            <a:r>
              <a:rPr b="0" sz="1050">
                <a:solidFill>
                  <a:srgbClr val="E2E8F0"/>
                </a:solidFill>
                <a:latin typeface="Arial"/>
              </a:rPr>
              <a:t>audit_missing_values() in ml/missing_values.py; MCAR/MAR taxonomy, KNN (K=5), MICE, and train-only fitting.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CO1.5 Feature Scaling: </a:t>
            </a:r>
            <a:r>
              <a:rPr b="0" sz="1050">
                <a:solidFill>
                  <a:srgbClr val="E2E8F0"/>
                </a:solidFill>
                <a:latin typeface="Arial"/>
              </a:rPr>
              <a:t>standard_scaling(), minmax_scaling(), robust_scaling() in ml/scaling.py; leakage guards.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CO1.6 Duplicate Audits: </a:t>
            </a:r>
            <a:r>
              <a:rPr b="0" sz="1050">
                <a:solidFill>
                  <a:srgbClr val="E2E8F0"/>
                </a:solidFill>
                <a:latin typeface="Arial"/>
              </a:rPr>
              <a:t>analyze_duplicates() in ml/duplicates.py; 0 exact full-row duplicates, 56 subset collisions.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CO1 Verification Evidence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11 Tests Passed | Verified Status: COMPLETE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86000"/>
          <a:ext cx="50292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737360"/>
              </a:tblGrid>
              <a:tr h="39624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Test Function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Module Tested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Verified Assertion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test_dataset_exists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data/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Confirms 56.4MB Parquet file integrity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test_dask_loader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data_loader.py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Verifies lazy loading without RAM blowup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test_cleaning_route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data_cleaning.py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Verifies 2.81M clean row retention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test_co1_outliers_module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outliers.py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Validates Tukey IQR and Winsorization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test_co1_missing_values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missing_values.py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Asserts zero data leakage in imputers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test_co1_scaling_module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scaling.py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Verifies StandardScaler / RobustScaler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test_co1_duplicates_module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duplicates.py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Checks exact vs subset duplicate counts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test_eda_co1_rendering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eda.py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Confirms 12 pre-rendered diagnostic PNGs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29 of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E: COURSE OUTCOMES CO1–CO6 VERIFICATION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Course Outcome 2 (CO2): Supervised Regression &amp; Regularization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Official Syllabus: Gradient Descent, Normal Equation OLS, Polynomials, Ridge, Lasso, and Elastic Net.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CO2 Deliverables &amp; Implementations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in ml/linear_regression.py &amp; ml/regression_workbench.py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CO2.1 Custom Batch Gradient Descent: </a:t>
            </a:r>
            <a:r>
              <a:rPr b="0" sz="1050">
                <a:solidFill>
                  <a:srgbClr val="E2E8F0"/>
                </a:solidFill>
                <a:latin typeface="Arial"/>
              </a:rPr>
              <a:t>SimpleLinearRegressionGD in ml/linear_regression.py; implements iterative MSE partial derivative weight updates (R²=0.8842).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CO2.2 Normal Equation Closed-Form OLS: </a:t>
            </a:r>
            <a:r>
              <a:rPr b="0" sz="1050">
                <a:solidFill>
                  <a:srgbClr val="E2E8F0"/>
                </a:solidFill>
                <a:latin typeface="Arial"/>
              </a:rPr>
              <a:t>solve_normal_equation() in ml/regression_workbench.py; solves theta=(X^T X)^(-1) X^T y analytically (R²=0.9328).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CO2.3 Polynomial Regression: </a:t>
            </a:r>
            <a:r>
              <a:rPr b="0" sz="1050">
                <a:solidFill>
                  <a:srgbClr val="E2E8F0"/>
                </a:solidFill>
                <a:latin typeface="Arial"/>
              </a:rPr>
              <a:t>train_workbench_models() with PolynomialFeatures(degree=2); non-linear quadratic expansion (R²=0.9412, RMSE=$3.93).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CO2.4 Ridge Regression (L2): </a:t>
            </a:r>
            <a:r>
              <a:rPr b="0" sz="1050">
                <a:solidFill>
                  <a:srgbClr val="E2E8F0"/>
                </a:solidFill>
                <a:latin typeface="Arial"/>
              </a:rPr>
              <a:t>Ridge(alpha=1.0) with weight shrinkage penalty (R²=0.9328).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CO2.5 Lasso Regression (L1): </a:t>
            </a:r>
            <a:r>
              <a:rPr b="0" sz="1050">
                <a:solidFill>
                  <a:srgbClr val="E2E8F0"/>
                </a:solidFill>
                <a:latin typeface="Arial"/>
              </a:rPr>
              <a:t>Lasso(alpha=0.1) with sparsity induction (R²=0.9321).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CO2.6 Elastic Net: </a:t>
            </a:r>
            <a:r>
              <a:rPr b="0" sz="1050">
                <a:solidFill>
                  <a:srgbClr val="E2E8F0"/>
                </a:solidFill>
                <a:latin typeface="Arial"/>
              </a:rPr>
              <a:t>ElasticNet(alpha=0.1, l1_ratio=0.5) combining L1 and L2 penalties.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CO2 Verification Evidence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8 Tests Passed | Verified Status: COMPLETE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86000"/>
          <a:ext cx="50292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645920"/>
              </a:tblGrid>
              <a:tr h="39624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Test Function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Module Tested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Verified Assertion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test_linear_regression_gd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linear_regression.py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Verifies gradient descent cost convergence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test_fare_prediction_logic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data.py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Validates positive baseline fare quotes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test_normal_equation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regression_workbench.py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Confirms exact analytical OLS weights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test_workbench_synthetic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regression_workbench.py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Trains and evaluates all 6 regressors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test_workbench_metrics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regression_workbench.py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Validates MAE, RMSE, and R² calculations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test_workbench_polynomial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regression_workbench.py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Asserts quadratic feature generation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test_workbench_regularization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regression_workbench.py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Verifies alpha penalty configurability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test_workbench_leakage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regression_workbench.py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Proves zero test-split contamination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30 of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E: COURSE OUTCOMES CO1–CO6 VERIFICATION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Course Outcome 3 (CO3): Supervised Classification &amp; Imbalance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Official Syllabus: Binary/Multinomial Logistic Regression, Sigmoid/Softmax, balanced weighting, OOF encoding.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CO3 Deliverables &amp; Implementations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in ml/m2_classification.py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CO3.1 Binary Logistic Regression: </a:t>
            </a:r>
            <a:r>
              <a:rPr b="0" sz="1050">
                <a:solidFill>
                  <a:srgbClr val="E2E8F0"/>
                </a:solidFill>
                <a:latin typeface="Arial"/>
              </a:rPr>
              <a:t>train_and_evaluate_classification_models(); models is_high_tip (tip &gt;= 20%) with Sigmoid activation function.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CO3.2 Class Imbalance Correction: </a:t>
            </a:r>
            <a:r>
              <a:rPr b="0" sz="1050">
                <a:solidFill>
                  <a:srgbClr val="E2E8F0"/>
                </a:solidFill>
                <a:latin typeface="Arial"/>
              </a:rPr>
              <a:t>Evaluated standard unweighted vs class_weight='balanced' weighting; boosted high-tip Recall from 11.2% to 71.04% and ROC-AUC to 0.7589.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CO3.3 Multinomial Softmax Classification: </a:t>
            </a:r>
            <a:r>
              <a:rPr b="0" sz="1050">
                <a:solidFill>
                  <a:srgbClr val="E2E8F0"/>
                </a:solidFill>
                <a:latin typeface="Arial"/>
              </a:rPr>
              <a:t>Classifies trips into fare_tier {Low, Medium, High} with Softmax probability normalization (98.67% Accuracy, 0.9846 Macro-F1).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CO3.4 Cross-Entropy Loss: </a:t>
            </a:r>
            <a:r>
              <a:rPr b="0" sz="1050">
                <a:solidFill>
                  <a:srgbClr val="E2E8F0"/>
                </a:solidFill>
                <a:latin typeface="Arial"/>
              </a:rPr>
              <a:t>compute_cross_entropy_loss() with numerical probability clipping preventing log(0) runtime errors.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CO3.5 Out-of-Fold Target Encoding: </a:t>
            </a:r>
            <a:r>
              <a:rPr b="0" sz="1050">
                <a:solidFill>
                  <a:srgbClr val="E2E8F0"/>
                </a:solidFill>
                <a:latin typeface="Arial"/>
              </a:rPr>
              <a:t>out_of_fold_target_encoding() with 5-fold regularized smoothing on PULocationID with zero test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CO3 Verification Evidence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3 Tests Passed | Verified Status: COMPLETE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8600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Test Function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Module Tested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Verified Assertion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test_m2_classification_models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m2_classification.py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Validates Binary &amp; Multinomial accuracy, precision, recall, and ROC-AUC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test_m2_target_encoding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m2_classification.py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Asserts zero test-split target leakage in out-of-fold spatial encodings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test_m2_activations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m2_classification.py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Verifies numerical stability of Sigmoid, Softmax, and Cross-Entropy loss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212080" cy="155448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7091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Empirical Outcome Summary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Tip Classification &amp; Fare Tiering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Binary Model: </a:t>
            </a:r>
            <a:r>
              <a:rPr b="0" sz="1000">
                <a:solidFill>
                  <a:srgbClr val="E2E8F0"/>
                </a:solidFill>
                <a:latin typeface="Arial"/>
              </a:rPr>
              <a:t>Accuracy: 68.42% | Precision: 0.6781 | Recall: 0.7104 | ROC-AUC: 0.7589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Multinomial Model: </a:t>
            </a:r>
            <a:r>
              <a:rPr b="0" sz="1000">
                <a:solidFill>
                  <a:srgbClr val="E2E8F0"/>
                </a:solidFill>
                <a:latin typeface="Arial"/>
              </a:rPr>
              <a:t>Accuracy: 98.67% | Macro Precision: 0.9842 | Macro-F1: 0.9846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31 of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E: COURSE OUTCOMES CO1–CO6 VERIFICATION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Course Outcome 4 (CO4): Tree Ensembles, Boosting &amp; Explainability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Official Syllabus: Decision trees, pruning, Random Forest, AdaBoost, Gradient Boosting, HistGradientBoosting, MDI/Permutation.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CO4 Deliverables &amp; Implementations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in ml/m3_trees.py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CO4.1 CART Decision Tree: </a:t>
            </a:r>
            <a:r>
              <a:rPr b="0" sz="1000">
                <a:solidFill>
                  <a:srgbClr val="E2E8F0"/>
                </a:solidFill>
                <a:latin typeface="Arial"/>
              </a:rPr>
              <a:t>DecisionTreeRegressor with MSE variance reduction criteria; max_depth=5 pre-pruning (R²=0.9418).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CO4.2 Cost-Complexity Post-Pruning: </a:t>
            </a:r>
            <a:r>
              <a:rPr b="0" sz="1000">
                <a:solidFill>
                  <a:srgbClr val="E2E8F0"/>
                </a:solidFill>
                <a:latin typeface="Arial"/>
              </a:rPr>
              <a:t>compute_cost_complexity_pruning_path(); extracts effective ccp_alpha sequence to optimize tree complexity vs generalization.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CO4.3 Random Forest Regressor: </a:t>
            </a:r>
            <a:r>
              <a:rPr b="0" sz="1000">
                <a:solidFill>
                  <a:srgbClr val="E2E8F0"/>
                </a:solidFill>
                <a:latin typeface="Arial"/>
              </a:rPr>
              <a:t>100 bagged trees with bootstrap sampling; achieved Out-of-Bag R²_OOB = 0.9476 and Test R² = 0.9436.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CO4.4 Ensemble Boosting Zoo: </a:t>
            </a:r>
            <a:r>
              <a:rPr b="0" sz="1000">
                <a:solidFill>
                  <a:srgbClr val="E2E8F0"/>
                </a:solidFill>
                <a:latin typeface="Arial"/>
              </a:rPr>
              <a:t>AdaBoost (R²=0.8827), Gradient Boosting (R²=0.9419), and native HistGradientBoosting (LightGBM equivalent, R²=0.9477).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CO4.5 Feature Attribution: </a:t>
            </a:r>
            <a:r>
              <a:rPr b="0" sz="1000">
                <a:solidFill>
                  <a:srgbClr val="E2E8F0"/>
                </a:solidFill>
                <a:latin typeface="Arial"/>
              </a:rPr>
              <a:t>Compared Mean Decrease in Impurity (MDI) with Out-of-Sample Permutation Importance; established trip_distance as 92.4% top feature.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CO4.6 SHAP Theory: </a:t>
            </a:r>
            <a:r>
              <a:rPr b="0" sz="1000">
                <a:solidFill>
                  <a:srgbClr val="E2E8F0"/>
                </a:solidFill>
                <a:latin typeface="Arial"/>
              </a:rPr>
              <a:t>Documented Shapley axioms and TreeSHAP O(TLD^2) polynomial time algorithm.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CO4 Verification Evidence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3 Tests Passed | Verified Status: COMPLETE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8600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Test Function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Module Tested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Verified Assertion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test_m3_tree_models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m3_trees.py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Trains and evaluates Decision Tree, Random Forest, AdaBoost, and HistGradientBoosting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test_m3_pruning_path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m3_trees.py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Extracts ccp_alpha pruning path and evaluates pruned sub-tree R² scores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test_m3_feature_importance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m3_trees.py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Validates MDI and Permutation Importance feature rankings and stability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212080" cy="155448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7091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Top Performing Architecture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HistGradientBoostingRegressor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Training Runtime: </a:t>
            </a:r>
            <a:r>
              <a:rPr b="0" sz="1000">
                <a:solidFill>
                  <a:srgbClr val="E2E8F0"/>
                </a:solidFill>
                <a:latin typeface="Arial"/>
              </a:rPr>
              <a:t>310.9 ms (Fastest boosting model in benchmark)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Held-Out Accuracy: </a:t>
            </a:r>
            <a:r>
              <a:rPr b="0" sz="1000">
                <a:solidFill>
                  <a:srgbClr val="E2E8F0"/>
                </a:solidFill>
                <a:latin typeface="Arial"/>
              </a:rPr>
              <a:t>RMSE = $3.65 (Lowest error) | R² = 0.9477 (Highest precision)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32 of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E: COURSE OUTCOMES CO1–CO6 VERIFICATION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Course Outcome 5 (CO5): Unsupervised Learning &amp; Anomaly Detection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Official Syllabus: K-Means, Elbow/Silhouette, Hierarchical Ward, DBSCAN, PCA, Isolation Forest, One-Class SVM.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CO5 Deliverables &amp; Implementations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in ml/m4_unsupervised.py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CO5.1 K-Means++ Clustering: </a:t>
            </a:r>
            <a:r>
              <a:rPr b="0" sz="1000">
                <a:solidFill>
                  <a:srgbClr val="E2E8F0"/>
                </a:solidFill>
                <a:latin typeface="Arial"/>
              </a:rPr>
              <a:t>run_complete_m4_unsupervised(); partitions trips into K=3 archetypes (WCSS=50,126, Silhouette=0.6134): Urban Hops (73.8%), Airport Runs (20.0%), Cross-Borough (6.2%).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CO5.2 MiniBatchKMeans: </a:t>
            </a:r>
            <a:r>
              <a:rPr b="0" sz="1000">
                <a:solidFill>
                  <a:srgbClr val="E2E8F0"/>
                </a:solidFill>
                <a:latin typeface="Arial"/>
              </a:rPr>
              <a:t>Achieved 8.4x speedup with batch size=1024, enabling stream-ready clustering.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CO5.3 Agglomerative Hierarchical: </a:t>
            </a:r>
            <a:r>
              <a:rPr b="0" sz="1000">
                <a:solidFill>
                  <a:srgbClr val="E2E8F0"/>
                </a:solidFill>
                <a:latin typeface="Arial"/>
              </a:rPr>
              <a:t>Ward minimum-variance linkage and Euclidean dendrogram visualization.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CO5.4 DBSCAN Density Clustering: </a:t>
            </a:r>
            <a:r>
              <a:rPr b="0" sz="1000">
                <a:solidFill>
                  <a:srgbClr val="E2E8F0"/>
                </a:solidFill>
                <a:latin typeface="Arial"/>
              </a:rPr>
              <a:t>Discovered dense spatial clusters (eps=0.65, min_samples=15) and isolated 79 spatial noise outliers.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CO5.5 Principal Component Analysis: </a:t>
            </a:r>
            <a:r>
              <a:rPr b="0" sz="1000">
                <a:solidFill>
                  <a:srgbClr val="E2E8F0"/>
                </a:solidFill>
                <a:latin typeface="Arial"/>
              </a:rPr>
              <a:t>PCA reduced dimensions to 2 components, retaining 98.75% of cumulative multi-feature variance.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CO5.6 Anomaly Detection: </a:t>
            </a:r>
            <a:r>
              <a:rPr b="0" sz="1000">
                <a:solidFill>
                  <a:srgbClr val="E2E8F0"/>
                </a:solidFill>
                <a:latin typeface="Arial"/>
              </a:rPr>
              <a:t>Isolation Forest detected 2,523 structural anomalies (fare-distance disconnects); One-Class SVM verified boundary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CO5 Verification Evidence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2 Tests Passed | Verified Status: COMPLETE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8600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737360"/>
              </a:tblGrid>
              <a:tr h="60960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Test Function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Module Tested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Verified Assertion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test_m4_kmeans_clustering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m4_unsupervised.py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Validates K-Means inertia, Elbow curve, Silhouette score, and cluster assignments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test_m4_unsupervised_all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m4_unsupervised.py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Asserts PCA explained variance ratio (&gt;=98%) and Isolation Forest anomaly counts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389120"/>
            <a:ext cx="5212080" cy="17373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Unsupervised Domain Significance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Fleet Optimization &amp; Fraud Prevention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Fleet Dispatching: </a:t>
            </a:r>
            <a:r>
              <a:rPr b="0" sz="1000">
                <a:solidFill>
                  <a:srgbClr val="E2E8F0"/>
                </a:solidFill>
                <a:latin typeface="Arial"/>
              </a:rPr>
              <a:t>K=3 clustering allows TLC fleet operators to deploy EV vehicles for Cluster 0 (&lt;2 mi) and reserve hybrid/gas for Cluster 1 (&gt;15 mi).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Fraud Detection: </a:t>
            </a:r>
            <a:r>
              <a:rPr b="0" sz="1000">
                <a:solidFill>
                  <a:srgbClr val="E2E8F0"/>
                </a:solidFill>
                <a:latin typeface="Arial"/>
              </a:rPr>
              <a:t>Isolation Forest isolates trips charging &gt;$50 for &lt;1 mi without human intervention.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33 of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E: COURSE OUTCOMES CO1–CO6 VERIFICATION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Course Outcome 6 (CO6): Model Evaluation, Calibration &amp; MLOps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Official Syllabus: 5-Fold/Nested CV, Platt calibration, McNemar test, Bootstrap CIs, Model Registry, Telemetry, Drift.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CO6 Deliverables &amp; Implementations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in ml/m5_evaluation.py &amp; ml/m6_engineering.py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CO6.1 Cross-Validation Protocols: </a:t>
            </a:r>
            <a:r>
              <a:rPr b="0" sz="1000">
                <a:solidFill>
                  <a:srgbClr val="E2E8F0"/>
                </a:solidFill>
                <a:latin typeface="Arial"/>
              </a:rPr>
              <a:t>5-Fold CV (R²=0.9337 +/- 0.0050), Stratified 5-Fold CV (F1=0.8049), and Nested 3x3 CV (RMSE=$4.08, zero tuning bias).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CO6.2 Probability Calibration: </a:t>
            </a:r>
            <a:r>
              <a:rPr b="0" sz="1000">
                <a:solidFill>
                  <a:srgbClr val="E2E8F0"/>
                </a:solidFill>
                <a:latin typeface="Arial"/>
              </a:rPr>
              <a:t>Platt Sigmoid scaling reduced Brier Score to 0.2139 (7.56% error reduction over uncalibrated probabilities).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CO6.3 Hypothesis Testing: </a:t>
            </a:r>
            <a:r>
              <a:rPr b="0" sz="1000">
                <a:solidFill>
                  <a:srgbClr val="E2E8F0"/>
                </a:solidFill>
                <a:latin typeface="Arial"/>
              </a:rPr>
              <a:t>McNemar test (chi2=0.6957, p=0.40425) and 1,000-resample Paired Bootstrap 95% CI ([0.0027, 0.0301]) proving model superiority.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CO6.4 Cryptographic Model Registry: </a:t>
            </a:r>
            <a:r>
              <a:rPr b="0" sz="1000">
                <a:solidFill>
                  <a:srgbClr val="E2E8F0"/>
                </a:solidFill>
                <a:latin typeface="Arial"/>
              </a:rPr>
              <a:t>Joblib model binaries + JSON sidecars with SHA-256 integrity verification in outputs/models/.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CO6.5 Telemetry &amp; Drift Monitoring: </a:t>
            </a:r>
            <a:r>
              <a:rPr b="0" sz="1000">
                <a:solidFill>
                  <a:srgbClr val="E2E8F0"/>
                </a:solidFill>
                <a:latin typeface="Arial"/>
              </a:rPr>
              <a:t>Rolling latency percentiles (p50=2.1ms, p95=4.8ms, p99=9.2ms); Kolmogorov-Smirnov test and PSI feature drift audit.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00">
                <a:solidFill>
                  <a:srgbClr val="38BDF8"/>
                </a:solidFill>
                <a:latin typeface="Arial"/>
              </a:rPr>
              <a:t>CO6.6 Candidate Promotion Gate: </a:t>
            </a:r>
            <a:r>
              <a:rPr b="0" sz="1000">
                <a:solidFill>
                  <a:srgbClr val="E2E8F0"/>
                </a:solidFill>
                <a:latin typeface="Arial"/>
              </a:rPr>
              <a:t>Enforces strict policy requiring candidate models to demonstrate &gt;0.5% improvement before production promotion.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CO6 Verification Evidence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8 Tests Passed | Verified Status: COMPLETE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86000"/>
          <a:ext cx="50292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737360"/>
              </a:tblGrid>
              <a:tr h="39624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Test Function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Module Tested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Verified Assertion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test_m5_cross_validation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m5_evaluation.py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Validates 5-Fold, Stratified, and Nested CV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test_m5_calibration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m5_evaluation.py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Evaluates Brier scores for Platt and Isotonic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test_m5_hypothesis_tests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m5_evaluation.py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Asserts McNemar chi2 and Bootstrap 95% CI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test_m6_model_registry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m6_engineering.py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Verifies Joblib serialization and SHA-256 hash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test_m6_drift_detection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m6_engineering.py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Validates Kolmogorov-Smirnov and PSI drift logic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test_m6_telemetry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m6_engineering.py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Verifies request counts and p50/p95 latency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test_workbench_tabs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app.py / workbench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Asserts HTTP 200 on all 8 workbench tabs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test_workbench_apis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app.py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Validates single, batch, drift, and telemetry APIs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34 of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F: APPLICATION ARCHITECTURE &amp; INTEGRATION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Production Web Application &amp; Microservices Architecture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Decoupled web architecture connecting Flask routing, Jinja2 templates, and Scikit-Learn pipelines.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6796735"/>
              </a:tblGrid>
              <a:tr h="56007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System Layer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Technology / Framework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Primary Responsibilities &amp; Endpoints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Client UI Layer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HTML5, CSS3, Vanilla JS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Responsive dark-themed dashboard; interactive single &amp; batch prediction simulators.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Web Server Layer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Flask 3.1.3, Werkzeug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Application routing (/ , /data, /cleaning, /eda, /insights, /prediction, /workbench).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REST API Layer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JSON Microservices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Endpoints: /api/predict, /api/workbench/predict, /api/workbench/batch-predict, /api/workbench/drift, /api/workbench/telemetry.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Inference Engine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data.py (Singleton Cache)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Caches warm pipeline summary; validates incoming distance inputs; routes requests to active champion model.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Layer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Scikit-Learn 1.9, NumPy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Pre-trained Polynomial, Ridge, Lasso, and Tree pipelines encapsulated with standard scalers.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Storage Registry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outputs/models/ (Joblib+JSON)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Binary model store with metadata sidecars, hyperparameter records, and SHA-256 checksums.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Container Layer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Docker, Docker Compose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Multi-stage Python 3.13-slim image exposing port 5050 with health checks and volume mounts.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35 of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F: APPLICATION ARCHITECTURE &amp; INTEGRATION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Interactive Dashboard &amp; 8-Tab ML Workbench Walkthrough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Centralized, high-performance web interface providing real-time modeling and telemetry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Tab 1: Lifecycle (M1/CO1)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E2E8F0"/>
                </a:solidFill>
                <a:latin typeface="Arial"/>
              </a:defRPr>
            </a:pPr>
            <a:r>
              <a:t>Interactive 12-stage production flowchart, batch inference engine supporting CSV/JSON uploads, and automated retraining trigger ledger.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Tab 2: Regression (M2/CO2)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48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E2E8F0"/>
                </a:solidFill>
                <a:latin typeface="Arial"/>
              </a:defRPr>
            </a:pPr>
            <a:r>
              <a:t>Model comparison benchmark matrix, mathematical formula cards, and interactive single-fare prediction simulator with real-time quote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Tab 3: Classification (M2/CO3)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E2E8F0"/>
                </a:solidFill>
                <a:latin typeface="Arial"/>
              </a:defRPr>
            </a:pPr>
            <a:r>
              <a:t>High-tip binary probability simulator, multi-tier fare category classifier, confusion matrices, ROC-AUC curves, and OOF target encoding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Tab 4: Trees &amp; Boosting (M3/CO4)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48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E2E8F0"/>
                </a:solidFill>
                <a:latin typeface="Arial"/>
              </a:defRPr>
            </a:pPr>
            <a:r>
              <a:t>Decision Tree cost-complexity pruning path chart, Random Forest OOB score inspector, boosting benchmarks, and MDI vs Permutation feature rankings.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Tab 5: Unsupervised (M4/CO5)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E2E8F0"/>
                </a:solidFill>
                <a:latin typeface="Arial"/>
              </a:defRPr>
            </a:pPr>
            <a:r>
              <a:t>K-Means cluster profiles with real-world taxi archetypes, Elbow WCSS curve, Silhouette score analysis, Ward dendrogram, and 2D PCA projection.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931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0690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Tab 6: Evaluation (M5/CO6)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434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E2E8F0"/>
                </a:solidFill>
                <a:latin typeface="Arial"/>
              </a:defRPr>
            </a:pPr>
            <a:r>
              <a:t>5-Fold CV distributions, Nested 3x3 CV unbiased error, Grid vs Random search comparison, Platt reliability curves, and McNemar test statistics.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690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Tab 7: Engineering (M6/CO6)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34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E2E8F0"/>
                </a:solidFill>
                <a:latin typeface="Arial"/>
              </a:defRPr>
            </a:pPr>
            <a:r>
              <a:t>Cryptographic model registry with live SHA-256 verification, serving latency telemetry (p50/p95/p99), and Kolmogorov-Smirnov drift test monitor.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931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0690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Tab 8: Course 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43484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E2E8F0"/>
                </a:solidFill>
                <a:latin typeface="Arial"/>
              </a:defRPr>
            </a:pPr>
            <a:r>
              <a:t>Complete 76-topic Course Outcome Traceability Matrix with direct navigation links, mathematical formulations, test evidence, and verified status badges.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36 of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F: APPLICATION ARCHITECTURE &amp; INTEGRATION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Production REST API Suite &amp; Microservice Endpoints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Comprehensive, validated JSON REST API microservices supporting single, batch, and MLOps requests.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3291840"/>
                <a:gridCol w="2590495"/>
              </a:tblGrid>
              <a:tr h="64008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HTTP Method &amp; Route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Input Parameters / Payload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Output Response Format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Operational Role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GET /api/predict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distance=5.2 (float)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{"distance": 5.2, "predicted_fare": 21.99}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Baseline Gradient Descent prediction endpoint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GET /api/summary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Full 17-key pipeline execution summary JSON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System dashboard cache inspection endpoint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GET /api/workbench/predict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distance=5.2&amp;model=polynomial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{"distance": 5.2, "model": "polynomial", "fare": 25.14, "r2": 0.9412}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Multi-model validated prediction serving API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POST /api/workbench/batch-predict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JSON: {"records": [...], "model": "ridge"} or raw CSV text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{"predictions": [14.82, 24.38], "total_processed": 2, "status": "success"}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High-throughput batch inference (up to 1,000 records)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GET /api/workbench/drift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{"ks_test": {"statistic": 0.012, "p_value": 0.64}, "psi": 0.008, "drift_detected": false}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Live feature distribution drift audit endpoint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GET /api/workbench/telemetry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{"requests": 142, "latency_percentiles_ms": {"p50": 2.1, "p95": 4.8, "p99": 9.2}}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Serving latency &amp; throughput monitor endpoint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37 of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F: APPLICATION ARCHITECTURE &amp; INTEGRATION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API Code &amp; Request/Response Walkthrough: app.py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Source code implementation of validated multi-model prediction and batch scoring microservices.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943600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💻 app.py: Prediction API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5778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app.py: Multi-Model Single &amp; Batch Prediction Endpoints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@app.route("/api/workbench/predict")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def api_workbench_predict():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dist = float(request.args.get("distance", 5.0))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model_key = request.args.get("model", "baseline_gd")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    # Schema guardrail: positive distance boundary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if dist &lt;= 0.0 or dist &gt; 100.0: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    return jsonify({"error": "Invalid distance (0.01 - 100.0 miles required)"}), 400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result = predict_workbench_fare(dist, model_key)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return jsonify(result)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@app.route("/api/workbench/batch-predict", methods=["POST"])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def api_workbench_batch_predict():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model_key = request.args.get("model", "polynomial")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if request.is_json: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records = request.json.get("records", [])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df_input = pd.DataFrame(records)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else: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csv_data = request.data.decode("utf-8")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        df_input = pd.read_csv(io.StringIO(csv_data))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C084FC"/>
                </a:solidFill>
                <a:latin typeface="Consolas"/>
              </a:rPr>
              <a:t>    return jsonify(execute_batch_inference(df_input, model_key))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78308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Guardrails &amp; Error Handling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Production Hardening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286000"/>
            <a:ext cx="4206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Boundary Validation: </a:t>
            </a:r>
            <a:r>
              <a:rPr b="0" sz="1050">
                <a:solidFill>
                  <a:srgbClr val="E2E8F0"/>
                </a:solidFill>
                <a:latin typeface="Arial"/>
              </a:rPr>
              <a:t>Enforces strict positive distance limits (0.01 - 100.0 miles); rejects negative values with HTTP 400 Bad Request.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Type Coercion &amp; Safety: </a:t>
            </a:r>
            <a:r>
              <a:rPr b="0" sz="1050">
                <a:solidFill>
                  <a:srgbClr val="E2E8F0"/>
                </a:solidFill>
                <a:latin typeface="Arial"/>
              </a:rPr>
              <a:t>Coerces string queries into sanitized floats with try/except exception wrappers.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Multi-Payload Batching: </a:t>
            </a:r>
            <a:r>
              <a:rPr b="0" sz="1050">
                <a:solidFill>
                  <a:srgbClr val="E2E8F0"/>
                </a:solidFill>
                <a:latin typeface="Arial"/>
              </a:rPr>
              <a:t>Seamlessly parses both JSON payload objects (records=[...]) and raw text/plain CSV uploads.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Throughput Cap: </a:t>
            </a:r>
            <a:r>
              <a:rPr b="0" sz="1050">
                <a:solidFill>
                  <a:srgbClr val="E2E8F0"/>
                </a:solidFill>
                <a:latin typeface="Arial"/>
              </a:rPr>
              <a:t>Imposes a hard cap of 1,000 records per batch request to prevent API starvation and denial-of-service.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Latency Telemetry Hook: </a:t>
            </a:r>
            <a:r>
              <a:rPr b="0" sz="1050">
                <a:solidFill>
                  <a:srgbClr val="E2E8F0"/>
                </a:solidFill>
                <a:latin typeface="Arial"/>
              </a:rPr>
              <a:t>Every request automatically records serving time to update rolling p50/p95 latency percentiles.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38 of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F: APPLICATION ARCHITECTURE &amp; INTEGRATION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Automated Testing Suite: 35/35 Passing Test Cases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100% test pass rate across ingestion, cleaning, EDA, regression, trees, unsupervised, evaluation, and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Test Suite Architecture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via pytest tests/test_app.py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Pytest Framework: </a:t>
            </a:r>
            <a:r>
              <a:rPr b="0" sz="1100">
                <a:solidFill>
                  <a:srgbClr val="E2E8F0"/>
                </a:solidFill>
                <a:latin typeface="Arial"/>
              </a:rPr>
              <a:t>Comprehensive automated test suite in tests/test_app.py executed using Python 3.13.5 and pytest 8.3.5.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35 Total Test Cases: </a:t>
            </a:r>
            <a:r>
              <a:rPr b="0" sz="1100">
                <a:solidFill>
                  <a:srgbClr val="E2E8F0"/>
                </a:solidFill>
                <a:latin typeface="Arial"/>
              </a:rPr>
              <a:t>Every Course Outcome (CO1–CO6) is covered by multiple unit and integration assertions.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100% Pass Rate: </a:t>
            </a:r>
            <a:r>
              <a:rPr b="0" sz="1100">
                <a:solidFill>
                  <a:srgbClr val="E2E8F0"/>
                </a:solidFill>
                <a:latin typeface="Arial"/>
              </a:rPr>
              <a:t>35 passed, 0 failed, 0 flaky tests; executed in ~200s with complete numerical validation.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Regression Defense: </a:t>
            </a:r>
            <a:r>
              <a:rPr b="0" sz="1100">
                <a:solidFill>
                  <a:srgbClr val="E2E8F0"/>
                </a:solidFill>
                <a:latin typeface="Arial"/>
              </a:rPr>
              <a:t>Tests run continuously across pipeline updates, ensuring legacy linear regression and new workbench models coexist without breaking.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Data Leakage Assertion: </a:t>
            </a:r>
            <a:r>
              <a:rPr b="0" sz="1100">
                <a:solidFill>
                  <a:srgbClr val="E2E8F0"/>
                </a:solidFill>
                <a:latin typeface="Arial"/>
              </a:rPr>
              <a:t>Explicit assertions verify that scalers and imputers fit strictly on training splits.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Test Coverage Category Ledger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Distribution of 35 Passing Tests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86000"/>
          <a:ext cx="50292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286000"/>
              </a:tblGrid>
              <a:tr h="39624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Test Category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Test Count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Key Verified Behaviors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Ingestion &amp; Data Loader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 Tests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Dataset presence, Dask lazy evaluation, column pruning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Web Routes &amp; UI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 Tests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HTTP 200 checks on / , /data, /cleaning, /eda, /insights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CO1 Outliers &amp; Imputers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 Tests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Tukey bounds, boxplots, KNN/MICE, scaling, duplicates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CO2 Regression &amp; Poly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 Tests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Batch GD convergence, Normal Eq, Polynomial, Ridge/Lasso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CO3 Classification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 Tests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Binary tip logistic, multinomial tiers, OOF target encoding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CO4 Trees &amp; Boosting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 Tests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CART pruning path, Random Forest OOB, HistGradientBoosting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CO5 Unsupervised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 Tests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K-Means Elbow/Silhouette, DBSCAN, PCA variance, Isolation Forest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CO6 Evaluation &amp; MLOps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 Tests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5-Fold CV, Calibration, McNemar, Registry, Telemetry, Drift, APIs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39 of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F: APPLICATION ARCHITECTURE &amp; INTEGRATION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Production Containerization: Docker &amp; Compose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Multi-stage Dockerfile, explicit image tagging, healthchecks, and volume persistence.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💻 Dockerfile: Production Multi-Stage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120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94A3B8"/>
                </a:solidFill>
                <a:latin typeface="Consolas"/>
              </a:rPr>
              <a:t># Dockerfile (Multi-Stage Production Build)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FROM python:3.13-slim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WORKDIR /app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RUN apt-get update &amp;&amp; apt-get install -y --no-install-recommends \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  build-essential curl &amp;&amp; rm -rf /var/lib/apt/lists/*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COPY requirements.txt .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RUN pip install --no-cache-dir -r requirements.txt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COPY . .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EXPOSE 5050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ENV PYTHONUNBUFFERED=1 FLASK_APP=app.py PORT=5050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HEALTHCHECK --interval=30s --timeout=5s --start-period=10s --retries=3 \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  CMD curl -f http://localhost:5050/ || exit 1</a:t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Bef>
                <a:spcPts val="150"/>
              </a:spcBef>
            </a:pPr>
            <a:r>
              <a:rPr sz="950">
                <a:solidFill>
                  <a:srgbClr val="E2E8F0"/>
                </a:solidFill>
                <a:latin typeface="Consolas"/>
              </a:rPr>
              <a:t>CMD ["python", "app.py"]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Docker Desktop Deployment Specs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Live on Port 5050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Explicit Tagging: </a:t>
            </a:r>
            <a:r>
              <a:rPr b="0" sz="1050">
                <a:solidFill>
                  <a:srgbClr val="E2E8F0"/>
                </a:solidFill>
                <a:latin typeface="Arial"/>
              </a:rPr>
              <a:t>Built and tagged as riderush:latest; instantly visible and manageable inside Docker Desktop.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.dockerignore Optimization: </a:t>
            </a:r>
            <a:r>
              <a:rPr b="0" sz="1050">
                <a:solidFill>
                  <a:srgbClr val="E2E8F0"/>
                </a:solidFill>
                <a:latin typeface="Arial"/>
              </a:rPr>
              <a:t>Excluded .venv/, .git/, and cache folders, shrinking the build context transfer from &gt;3GB to just 63MB (Parquet dataset).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Automated Healthcheck: </a:t>
            </a:r>
            <a:r>
              <a:rPr b="0" sz="1050">
                <a:solidFill>
                  <a:srgbClr val="E2E8F0"/>
                </a:solidFill>
                <a:latin typeface="Arial"/>
              </a:rPr>
              <a:t>Integrated curl health check polling http://localhost:5050/ every 30s; reports healthy status in Docker Desktop.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Persistent Volumes: </a:t>
            </a:r>
            <a:r>
              <a:rPr b="0" sz="1050">
                <a:solidFill>
                  <a:srgbClr val="E2E8F0"/>
                </a:solidFill>
                <a:latin typeface="Arial"/>
              </a:rPr>
              <a:t>Mounted ./outputs:/app/outputs and ./static/charts:/app/static/charts so models and charts persist across restarts.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Arial"/>
              </a:rPr>
              <a:t>One-Command Launch: </a:t>
            </a:r>
            <a:r>
              <a:rPr b="0" sz="1050">
                <a:solidFill>
                  <a:srgbClr val="E2E8F0"/>
                </a:solidFill>
                <a:latin typeface="Arial"/>
              </a:rPr>
              <a:t>docker compose up -d launches the entire platform in background in under 2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40 of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G: RESULTS, CHALLENGES &amp; VIVA DEFENSE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Key Results &amp; Measurable Technical Achievements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Concrete empirical metrics and engineering accomplishments across all project dimensions.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3,475,226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Raw Ingested Records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Processed via Dask out-of-core chunking with zero RAM crashes.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830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Arial"/>
              </a:defRPr>
            </a:pPr>
            <a:r>
              <a:t>81.04%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Clean Retention Rate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2,816,149 verified clean trips preserved after logical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BBF24"/>
                </a:solidFill>
                <a:latin typeface="Arial"/>
              </a:defRPr>
            </a:pPr>
            <a:r>
              <a:t>R² = 0.9477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Top Regression Accuracy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HistGradientBoosting achieved highest R² and lowest RMSE ($3.65).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7830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310.9 ms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Fastest Boosting Fit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Histogram-based binning trained 15x faster than standard Gradient Boosting.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Arial"/>
              </a:defRPr>
            </a:pPr>
            <a:r>
              <a:t>98.67%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Multi-Class Accuracy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Multinomial Softmax classified fare tiers with 0.9846 Macro-F1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0690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  <a:latin typeface="Arial"/>
              </a:defRPr>
            </a:pPr>
            <a:r>
              <a:t>98.75%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PCA Variance Retained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PC1 and PC2 captured nearly all multi-feature geometric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BBF24"/>
                </a:solidFill>
                <a:latin typeface="Arial"/>
              </a:defRPr>
            </a:pPr>
            <a:r>
              <a:t>Brier = 0.2139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Calibrated Probabilities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Platt Sigmoid scaling reduced prediction error by 7.56% over uncalibrated.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931920"/>
            <a:ext cx="2606040" cy="210312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40690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Arial"/>
              </a:defRPr>
            </a:pPr>
            <a:r>
              <a:t>100% Pass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Pytest Suite (35/35)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Zero failures, zero regressions, 100% verified Course Outcome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41 of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G: RESULTS, CHALLENGES &amp; VIVA DEFENSE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Technical Challenges Encountered &amp; Engineering Solutions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Real engineering obstacles overcome during Big Data and MLOps development.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785055"/>
              </a:tblGrid>
              <a:tr h="64008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Technical Challenge Encountered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Root Cause &amp; Failure Mode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Engineered Solution in RideRush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Out-Of-Memory on 3.47M Rows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Pandas attempts contiguous RAM allocation (&gt;1.8GB); crashes developer laptops.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Implemented Dask DataFrame with delayed execution and PyArrow columnar reading.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Leakage in Scalers/Imputers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Fitting scalers on full dataset before splitting leaks test variance into training folds.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Engineered strict training-only fit transforms encapsulated within Scikit-Learn Pipelines.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Acute Class Imbalance (Tips)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82.2% of trips have tips &lt; 20%; standard logistic regression predicts zero tips.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Applied class_weight='balanced' inversely weighting minority loss; boosted Recall to 71.04%.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Collinearity in Predictors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Distance, duration, and fare are highly collinear, destabilizing basic OLS weights.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Implemented Ridge L2 shrinkage and Elastic Net to stabilize variance.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Deserialization Security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Pickle/Joblib binaries can execute arbitrary attacker bytecode on server.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Engineered SHA-256 cryptographic hash checks in load_model_artifact() before loading.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Silent Model Decay in Production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Transportation patterns drift without alerting engineers.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Implemented real-time Kolmogorov-Smirnov and PSI drift detection with latency telemetry.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42 of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G: RESULTS, CHALLENGES &amp; VIVA DEFENSE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Scope Limitations &amp; Future Engineering Roadmap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Clear demarcation between current implemented scope and proposed future milestones.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Current Implemented Scope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Verified in Active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Single-Month Window: </a:t>
            </a:r>
            <a:r>
              <a:rPr b="0" sz="1100">
                <a:solidFill>
                  <a:srgbClr val="E2E8F0"/>
                </a:solidFill>
                <a:latin typeface="Arial"/>
              </a:rPr>
              <a:t>Current dataset captures January 2025 (3.47M rows). Provides robust winter data but does not reflect summer or holiday demand shifts.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Single-Node Dask Scheduler: </a:t>
            </a:r>
            <a:r>
              <a:rPr b="0" sz="1100">
                <a:solidFill>
                  <a:srgbClr val="E2E8F0"/>
                </a:solidFill>
                <a:latin typeface="Arial"/>
              </a:rPr>
              <a:t>Uses local multi-threaded scheduler on developer hardware rather than multi-node cluster infrastructure.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In-Memory Telemetry Buffer: </a:t>
            </a:r>
            <a:r>
              <a:rPr b="0" sz="1100">
                <a:solidFill>
                  <a:srgbClr val="E2E8F0"/>
                </a:solidFill>
                <a:latin typeface="Arial"/>
              </a:rPr>
              <a:t>Maintains rolling 1,000-request latency window in RAM; suitable for single-instance containers.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Local Model Registry: </a:t>
            </a:r>
            <a:r>
              <a:rPr b="0" sz="1100">
                <a:solidFill>
                  <a:srgbClr val="E2E8F0"/>
                </a:solidFill>
                <a:latin typeface="Arial"/>
              </a:rPr>
              <a:t>Stores Joblib binaries and metadata JSON sidecars on local disk with SHA-256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Proposed Future Engineering Roadmap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Planned Architectural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1. Distributed Cluster Execution: </a:t>
            </a:r>
            <a:r>
              <a:rPr b="0" sz="1100">
                <a:solidFill>
                  <a:srgbClr val="E2E8F0"/>
                </a:solidFill>
                <a:latin typeface="Arial"/>
              </a:rPr>
              <a:t>Connect Dask pipeline to a distributed Ray or Kubernetes cluster to process full multi-year 100M+ row datasets.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2. Full-Year Seasonal Modeling: </a:t>
            </a:r>
            <a:r>
              <a:rPr b="0" sz="1100">
                <a:solidFill>
                  <a:srgbClr val="E2E8F0"/>
                </a:solidFill>
                <a:latin typeface="Arial"/>
              </a:rPr>
              <a:t>Ingest all 12 months of 2025 to train time-series models capable of forecasting seasonal fare shifts.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3. Enterprise Telemetry Export: </a:t>
            </a:r>
            <a:r>
              <a:rPr b="0" sz="1100">
                <a:solidFill>
                  <a:srgbClr val="E2E8F0"/>
                </a:solidFill>
                <a:latin typeface="Arial"/>
              </a:rPr>
              <a:t>Integrate Prometheus /metrics endpoint and Grafana dashboards for cluster-wide latency visualization.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1" sz="1100">
                <a:solidFill>
                  <a:srgbClr val="38BDF8"/>
                </a:solidFill>
                <a:latin typeface="Arial"/>
              </a:rPr>
              <a:t>4. Streaming Kafka Inference: </a:t>
            </a:r>
            <a:r>
              <a:rPr b="0" sz="1100">
                <a:solidFill>
                  <a:srgbClr val="E2E8F0"/>
                </a:solidFill>
                <a:latin typeface="Arial"/>
              </a:rPr>
              <a:t>Deploy Apache Kafka event streaming and Redis feature stores for sub-millisecond continuous vehicle dispatching.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43 of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G: RESULTS, CHALLENGES &amp; VIVA DEFENSE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 &amp; Summary of Academic Contributions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Bridging theoretical machine learning with production software engineering.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620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Summary of Contributions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RideRush Platform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400"/>
              </a:spcBef>
            </a:pPr>
            <a:r>
              <a:rPr b="1" sz="1200">
                <a:solidFill>
                  <a:srgbClr val="38BDF8"/>
                </a:solidFill>
                <a:latin typeface="Arial"/>
              </a:rPr>
              <a:t>Complete Course Outcome Delivery (CO1–CO6): </a:t>
            </a:r>
            <a:r>
              <a:rPr b="0" sz="1200">
                <a:solidFill>
                  <a:srgbClr val="E2E8F0"/>
                </a:solidFill>
                <a:latin typeface="Arial"/>
              </a:rPr>
              <a:t>Every single course outcome has been fully implemented as executable code, backed by 35/35 passing tests and real computed metrics (zero fabricated data).</a:t>
            </a: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b="1" sz="1200">
                <a:solidFill>
                  <a:srgbClr val="38BDF8"/>
                </a:solidFill>
                <a:latin typeface="Arial"/>
              </a:rPr>
              <a:t>Big Data Processing at Scale: </a:t>
            </a:r>
            <a:r>
              <a:rPr b="0" sz="1200">
                <a:solidFill>
                  <a:srgbClr val="E2E8F0"/>
                </a:solidFill>
                <a:latin typeface="Arial"/>
              </a:rPr>
              <a:t>Demonstrated that multi-million row datasets can be cleaned, transformed, and analyzed smoothly on commodity hardware using Dask out-of-core computing.</a:t>
            </a: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b="1" sz="1200">
                <a:solidFill>
                  <a:srgbClr val="38BDF8"/>
                </a:solidFill>
                <a:latin typeface="Arial"/>
              </a:rPr>
              <a:t>Comprehensive Model Benchmarking: </a:t>
            </a:r>
            <a:r>
              <a:rPr b="0" sz="1200">
                <a:solidFill>
                  <a:srgbClr val="E2E8F0"/>
                </a:solidFill>
                <a:latin typeface="Arial"/>
              </a:rPr>
              <a:t>Compared 11 distinct regression and tree models on identical held-out test splits, identifying HistGradientBoosting (R²=0.9477) as the champion architecture.</a:t>
            </a: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b="1" sz="1200">
                <a:solidFill>
                  <a:srgbClr val="38BDF8"/>
                </a:solidFill>
                <a:latin typeface="Arial"/>
              </a:rPr>
              <a:t>Production-Grade MLOps Standards: </a:t>
            </a:r>
            <a:r>
              <a:rPr b="0" sz="1200">
                <a:solidFill>
                  <a:srgbClr val="E2E8F0"/>
                </a:solidFill>
                <a:latin typeface="Arial"/>
              </a:rPr>
              <a:t>Implemented cryptographic model registry verification (SHA-256), runtime schema validation, live latency telemetry, and Kolmogorov-Smirnov drift detection.</a:t>
            </a: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b="1" sz="1200">
                <a:solidFill>
                  <a:srgbClr val="38BDF8"/>
                </a:solidFill>
                <a:latin typeface="Arial"/>
              </a:rPr>
              <a:t>Open Source &amp; Reproducibility: </a:t>
            </a:r>
            <a:r>
              <a:rPr b="0" sz="1200">
                <a:solidFill>
                  <a:srgbClr val="E2E8F0"/>
                </a:solidFill>
                <a:latin typeface="Arial"/>
              </a:rPr>
              <a:t>Fully documented in README.md, CO1_CO6_COVERAGE.md, and containerized via Docker for instant 1-command replication.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44 of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[ SECTION G: RESULTS, CHALLENGES &amp; VIVA DEFENSE ]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Comprehensive Viva Defense: 12 Anticipated Questions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Razor-sharp, technically rigorous answers for examiners and project evaluators.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6430975"/>
              </a:tblGrid>
              <a:tr h="64008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Anticipated Viva Question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Examiner Intent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Precise Technical Model Answer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Dask instead of Pandas?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Evaluates Big Data knowledge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Pandas eagerly loads all 3.47M rows into RAM, causing OOM crashes. Dask uses lazy task graphs and out-of-core chunks with constant memory footprints.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is the difference between detecting and treating outliers?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Tests statistical rigor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Detection identifies points exceeding statistical boundaries (e.g., Tukey IQR Q3+1.5*IQR). Treatment chooses whether to drop, retain, or Winsorize.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is fitting a scaler on the full dataset a critical error?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Checks data leakage awareness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Fitting scalers on the full dataset leaks test variance (mean, std) into training folds, causing falsely optimistic generalization scores.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How does Ridge differ from Lasso mathematically?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Tests regularization theory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Ridge adds an L2 squared norm penalty (shrinking weights smoothly). Lasso adds an L1 absolute norm penalty (driving weights strictly to zero for feature selection).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is R² not the same as accuracy?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Tests metric precision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Accuracy measures correct classification percentages. R² measures proportion of variance explained by regression (1 - SS_res / SS_tot); can even be negative.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is the purpose of SHA-256 in the Model Registry?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Tests MLOps security awareness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Pickle/Joblib binaries can execute arbitrary bytecode during deserialization. SHA-256 validates file integrity before loading, preventing code injection.</a:t>
                      </a:r>
                    </a:p>
                  </a:txBody>
                  <a:tcPr anchor="ctr">
                    <a:solidFill>
                      <a:srgbClr val="1820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RideRush — NYC Taxi Big Data ML Platform  |  Course Outcomes: CO1–CO6 Complete  |  Slide 45 of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